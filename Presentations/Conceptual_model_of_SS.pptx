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2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3126E-A891-0843-3701-9B1D4A188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FE27B-C9DA-D112-651E-A254AA847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73848-3122-28C2-0A0B-60DC183A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4499-5B0C-4309-8096-5D5C31EC932B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51D94-D027-451A-CB3F-0B2527821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0DBCB-F789-CE2D-4194-A37353A15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3839C-C046-4668-9219-F2E82C0DD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81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CEAEF-FF36-F6B2-5C5E-DAFB80B43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1070B-DF7A-2033-4A2F-450B57287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CF9F3-F20E-7645-1334-5FFEA4248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4499-5B0C-4309-8096-5D5C31EC932B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96438-F97E-C4BA-76C8-91C93B03B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DD615-9C6A-F9BA-567A-3C961DB63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3839C-C046-4668-9219-F2E82C0DD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210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3DEBB-1AE9-0E3B-51B6-88EAFC58E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A90BC7-6635-600A-A72F-F36FEC1B7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C222F-BFC5-020F-B582-1E46FAE94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4499-5B0C-4309-8096-5D5C31EC932B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4E995-B5BC-18CE-2A3C-1B55DCD0E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C033F-B361-B45E-37A8-6E25FABD6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3839C-C046-4668-9219-F2E82C0DD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208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94046-6DD6-E19F-3323-CCA3E0883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7B76-454A-FD26-F205-5F637170B9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98021F-02EA-C0AA-AD07-10FBBB09F3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865935-F1F3-5DC2-871E-213869300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4499-5B0C-4309-8096-5D5C31EC932B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11D1-0889-5D5C-09AB-FD57EDC94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047EB-64F8-7CC1-34DC-2D9BA1869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3839C-C046-4668-9219-F2E82C0DD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73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8EAE5-7978-B8DF-DE52-43102C5F9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3A08C-F52E-116E-0885-8C5965003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933DA-CCF1-C4DC-805B-FE7BCBF5B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455716-FC08-C934-C076-74F55BFA13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1E6643-6DEC-37B1-7C9C-3A789592F3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DB929-4B18-DDF5-5E40-D080172E3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4499-5B0C-4309-8096-5D5C31EC932B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FAB8A8-5F05-66A3-18D6-81DC0023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6ACA01-D91A-6A1F-E213-DF661A5F5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3839C-C046-4668-9219-F2E82C0DD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295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6D755-DA57-85DA-B06A-58D2253A0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2E771C-D83B-D210-5C68-F6E610B1C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4499-5B0C-4309-8096-5D5C31EC932B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067684-AC48-32D5-10EB-491FC236A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3AF4F-D91C-4964-152C-1F28C2D5B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3839C-C046-4668-9219-F2E82C0DD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24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1CB220-4C22-8286-A356-8713E2508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4499-5B0C-4309-8096-5D5C31EC932B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87277D-F9D6-8951-940E-AEC5F8D79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72752-3DA1-017D-622A-030834FCC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3839C-C046-4668-9219-F2E82C0DD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721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E901-86AB-C3BF-09F3-C6589F113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453C3-2B58-C502-19BC-75D074C21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CF2E2-9A2F-C9B4-BCA5-FB4D2810A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14F59-73B8-0937-4836-FB42629C8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4499-5B0C-4309-8096-5D5C31EC932B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33DB12-3708-16D0-1627-0D2EBA8F1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9BC8F-0564-8331-6B59-2FD185175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3839C-C046-4668-9219-F2E82C0DD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45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093BF-C18A-D3F8-6B26-51A5E49D9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9ADEF0-CB93-AB50-E3DD-AE663B3642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4111B5-A10D-13FE-0E77-501BD2915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CAF07-BB9C-6265-0774-500501413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4499-5B0C-4309-8096-5D5C31EC932B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8C7373-17C8-6038-8285-A51CE5BB3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217375-A479-3BFF-E9B6-A0D6BB6B8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3839C-C046-4668-9219-F2E82C0DD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559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CC53E-E7DF-3429-1133-C918E1415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2435C-DB6E-470A-5E98-09A0B05A8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55A06-B50F-8D92-BE9C-6D1E5CF5E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4499-5B0C-4309-8096-5D5C31EC932B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74660-A2FE-BCF6-62A2-3A4BBAEC3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C3A63-94F7-32C7-6676-5E9B74BB0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3839C-C046-4668-9219-F2E82C0DD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478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F3340C-9A63-2946-5E21-EE1F54D84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FD5569-16F8-D20E-CAEC-8286FB157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82EB5-B71E-B1D5-3029-513CABD6A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4499-5B0C-4309-8096-5D5C31EC932B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E550C-D3FC-2CC5-D9C6-7743B840D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F33B2-D44F-4046-E4DC-5A99D1FC4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3839C-C046-4668-9219-F2E82C0DD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983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EE52A1-3230-6666-6A5B-C24762145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14D90-B4AA-4B1C-810B-8E70D039B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6FCCF-71EF-B87F-64D7-C47C9A175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944499-5B0C-4309-8096-5D5C31EC932B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FAE2E-D795-41D3-E38D-8CAE2CFB4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8E6AC-DFEB-3439-5B55-B15E105C0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3839C-C046-4668-9219-F2E82C0DD25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0F5352-3612-9D66-C699-C29606967B9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0463213" y="63500"/>
            <a:ext cx="1700212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Unclassified - Non-Classifié</a:t>
            </a:r>
          </a:p>
        </p:txBody>
      </p:sp>
    </p:spTree>
    <p:extLst>
      <p:ext uri="{BB962C8B-B14F-4D97-AF65-F5344CB8AC3E}">
        <p14:creationId xmlns:p14="http://schemas.microsoft.com/office/powerpoint/2010/main" val="3596619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169AC7A-7EAE-F32F-6700-AE2FB5FFB459}"/>
              </a:ext>
            </a:extLst>
          </p:cNvPr>
          <p:cNvSpPr/>
          <p:nvPr/>
        </p:nvSpPr>
        <p:spPr>
          <a:xfrm>
            <a:off x="6801038" y="2523067"/>
            <a:ext cx="1947332" cy="181186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ID:BLB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Habitat: Benthic 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Size: Large 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Food : Benthivore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57B465-68D2-C9CB-72EB-A4D5EF352B1F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Multispecies model using functional groups of demersal fish – a </a:t>
            </a:r>
            <a:r>
              <a:rPr lang="en-US" dirty="0" err="1"/>
              <a:t>hierarchial</a:t>
            </a:r>
            <a:r>
              <a:rPr lang="en-US" dirty="0"/>
              <a:t> approach using Bundy 2017’s classifications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CFF4A41-09F4-2CA3-2124-9CE52C858A31}"/>
              </a:ext>
            </a:extLst>
          </p:cNvPr>
          <p:cNvSpPr/>
          <p:nvPr/>
        </p:nvSpPr>
        <p:spPr>
          <a:xfrm>
            <a:off x="350595" y="4616846"/>
            <a:ext cx="1947331" cy="19642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ID: BSB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Habitat: Benthic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Size: Small-Med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Food : 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Benthivore</a:t>
            </a:r>
            <a:endParaRPr kumimoji="0" lang="en-US" sz="12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8095D33-F7DC-B53E-2F84-F81444BDD77E}"/>
              </a:ext>
            </a:extLst>
          </p:cNvPr>
          <p:cNvSpPr/>
          <p:nvPr/>
        </p:nvSpPr>
        <p:spPr>
          <a:xfrm>
            <a:off x="2883640" y="4616852"/>
            <a:ext cx="1947331" cy="19642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ID: BSP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Habitat: Benthic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Size: Small-Med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Food : 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Piscivore</a:t>
            </a:r>
            <a:endParaRPr kumimoji="0" lang="en-US" sz="12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1DC430E-C3C1-8BD3-ACB8-0954F9B0C495}"/>
              </a:ext>
            </a:extLst>
          </p:cNvPr>
          <p:cNvCxnSpPr>
            <a:cxnSpLocks/>
            <a:stCxn id="16" idx="3"/>
          </p:cNvCxnSpPr>
          <p:nvPr/>
        </p:nvCxnSpPr>
        <p:spPr>
          <a:xfrm flipH="1">
            <a:off x="1317315" y="3594967"/>
            <a:ext cx="555345" cy="1021885"/>
          </a:xfrm>
          <a:prstGeom prst="straightConnector1">
            <a:avLst/>
          </a:prstGeom>
          <a:ln w="1905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210EF7BA-F71A-9FF5-14F8-2335820D24E0}"/>
              </a:ext>
            </a:extLst>
          </p:cNvPr>
          <p:cNvSpPr/>
          <p:nvPr/>
        </p:nvSpPr>
        <p:spPr>
          <a:xfrm>
            <a:off x="1587480" y="2048443"/>
            <a:ext cx="1947332" cy="18118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ID:BLP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Habitat: Benthic 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Size: Large 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Food : Piscivore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254D2B6-D8AF-84D9-A3B9-23F0422B6E86}"/>
              </a:ext>
            </a:extLst>
          </p:cNvPr>
          <p:cNvCxnSpPr>
            <a:cxnSpLocks/>
            <a:stCxn id="16" idx="5"/>
            <a:endCxn id="7" idx="0"/>
          </p:cNvCxnSpPr>
          <p:nvPr/>
        </p:nvCxnSpPr>
        <p:spPr>
          <a:xfrm>
            <a:off x="3249632" y="3594967"/>
            <a:ext cx="607674" cy="1021885"/>
          </a:xfrm>
          <a:prstGeom prst="straightConnector1">
            <a:avLst/>
          </a:prstGeom>
          <a:ln w="1905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1C9E6360-C5E7-90B2-4CDA-9E89B08F17F9}"/>
              </a:ext>
            </a:extLst>
          </p:cNvPr>
          <p:cNvSpPr/>
          <p:nvPr/>
        </p:nvSpPr>
        <p:spPr>
          <a:xfrm>
            <a:off x="6718686" y="4532357"/>
            <a:ext cx="2139758" cy="202051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Habitat: Benthic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Size: Small-Large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Food : </a:t>
            </a:r>
            <a:r>
              <a:rPr kumimoji="0" lang="en-US" sz="1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Zoopiscivore</a:t>
            </a:r>
            <a:endParaRPr kumimoji="0" lang="en-US" sz="12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2C01F52-EA04-3236-1F87-F836F70480DB}"/>
              </a:ext>
            </a:extLst>
          </p:cNvPr>
          <p:cNvCxnSpPr>
            <a:cxnSpLocks/>
          </p:cNvCxnSpPr>
          <p:nvPr/>
        </p:nvCxnSpPr>
        <p:spPr>
          <a:xfrm>
            <a:off x="5689606" y="2172756"/>
            <a:ext cx="0" cy="4408357"/>
          </a:xfrm>
          <a:prstGeom prst="line">
            <a:avLst/>
          </a:prstGeom>
          <a:ln w="508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C2E37CC-D3F3-B590-C061-76C151D369F8}"/>
              </a:ext>
            </a:extLst>
          </p:cNvPr>
          <p:cNvSpPr txBox="1"/>
          <p:nvPr/>
        </p:nvSpPr>
        <p:spPr>
          <a:xfrm>
            <a:off x="1665196" y="1384440"/>
            <a:ext cx="1595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Model for sure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E9E326D-C5D5-A6E5-3158-BFEE6F690313}"/>
              </a:ext>
            </a:extLst>
          </p:cNvPr>
          <p:cNvSpPr txBox="1"/>
          <p:nvPr/>
        </p:nvSpPr>
        <p:spPr>
          <a:xfrm>
            <a:off x="7273711" y="1988090"/>
            <a:ext cx="10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Exclude?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40EE28-DABC-E8C5-481B-0F8263E2798F}"/>
              </a:ext>
            </a:extLst>
          </p:cNvPr>
          <p:cNvSpPr txBox="1"/>
          <p:nvPr/>
        </p:nvSpPr>
        <p:spPr>
          <a:xfrm>
            <a:off x="778311" y="669795"/>
            <a:ext cx="10905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this model we simply have the big fish eating the littles, but what to do with the Large fish categories that don’t </a:t>
            </a:r>
          </a:p>
          <a:p>
            <a:r>
              <a:rPr lang="en-US" dirty="0"/>
              <a:t>eat other adult fish?</a:t>
            </a:r>
          </a:p>
        </p:txBody>
      </p:sp>
    </p:spTree>
    <p:extLst>
      <p:ext uri="{BB962C8B-B14F-4D97-AF65-F5344CB8AC3E}">
        <p14:creationId xmlns:p14="http://schemas.microsoft.com/office/powerpoint/2010/main" val="194756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169AC7A-7EAE-F32F-6700-AE2FB5FFB459}"/>
              </a:ext>
            </a:extLst>
          </p:cNvPr>
          <p:cNvSpPr/>
          <p:nvPr/>
        </p:nvSpPr>
        <p:spPr>
          <a:xfrm>
            <a:off x="9505317" y="2428546"/>
            <a:ext cx="1947332" cy="181186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ID:BLB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Habitat: Benthic 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Size: Large 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Food : Benthivore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57B465-68D2-C9CB-72EB-A4D5EF352B1F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Multispecies model using functional groups of demersal fish 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CFF4A41-09F4-2CA3-2124-9CE52C858A31}"/>
              </a:ext>
            </a:extLst>
          </p:cNvPr>
          <p:cNvSpPr/>
          <p:nvPr/>
        </p:nvSpPr>
        <p:spPr>
          <a:xfrm>
            <a:off x="3196553" y="4870754"/>
            <a:ext cx="1947331" cy="19642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ID: BSB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Habitat: Benthic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Size: Small-Med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Food : 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Benthivore</a:t>
            </a:r>
            <a:endParaRPr kumimoji="0" lang="en-US" sz="12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8095D33-F7DC-B53E-2F84-F81444BDD77E}"/>
              </a:ext>
            </a:extLst>
          </p:cNvPr>
          <p:cNvSpPr/>
          <p:nvPr/>
        </p:nvSpPr>
        <p:spPr>
          <a:xfrm>
            <a:off x="3196765" y="1154545"/>
            <a:ext cx="1947331" cy="190784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ID: BSP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Habitat: Benthic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Size: Small-Med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Food : 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Piscivore</a:t>
            </a:r>
            <a:endParaRPr kumimoji="0" lang="en-US" sz="12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1DC430E-C3C1-8BD3-ACB8-0954F9B0C495}"/>
              </a:ext>
            </a:extLst>
          </p:cNvPr>
          <p:cNvCxnSpPr>
            <a:cxnSpLocks/>
            <a:stCxn id="16" idx="3"/>
            <a:endCxn id="6" idx="2"/>
          </p:cNvCxnSpPr>
          <p:nvPr/>
        </p:nvCxnSpPr>
        <p:spPr>
          <a:xfrm>
            <a:off x="573491" y="4580164"/>
            <a:ext cx="2623062" cy="1272724"/>
          </a:xfrm>
          <a:prstGeom prst="straightConnector1">
            <a:avLst/>
          </a:prstGeom>
          <a:ln w="1905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210EF7BA-F71A-9FF5-14F8-2335820D24E0}"/>
              </a:ext>
            </a:extLst>
          </p:cNvPr>
          <p:cNvSpPr/>
          <p:nvPr/>
        </p:nvSpPr>
        <p:spPr>
          <a:xfrm>
            <a:off x="288311" y="3033640"/>
            <a:ext cx="1947332" cy="18118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ID:BLP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Habitat: Benthic 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Size: Large 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Food : Piscivore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254D2B6-D8AF-84D9-A3B9-23F0422B6E86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298615" y="2108468"/>
            <a:ext cx="1898150" cy="925172"/>
          </a:xfrm>
          <a:prstGeom prst="straightConnector1">
            <a:avLst/>
          </a:prstGeom>
          <a:ln w="1905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1C9E6360-C5E7-90B2-4CDA-9E89B08F17F9}"/>
              </a:ext>
            </a:extLst>
          </p:cNvPr>
          <p:cNvSpPr/>
          <p:nvPr/>
        </p:nvSpPr>
        <p:spPr>
          <a:xfrm>
            <a:off x="6005032" y="2850239"/>
            <a:ext cx="2139758" cy="20205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Habitat: Benthic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Size: Small-Med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Food : </a:t>
            </a:r>
            <a:r>
              <a:rPr kumimoji="0" lang="en-US" sz="1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Zoopiscivore</a:t>
            </a:r>
            <a:endParaRPr kumimoji="0" lang="en-US" sz="12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D46786-F963-9D5D-566E-AECE256F15DE}"/>
              </a:ext>
            </a:extLst>
          </p:cNvPr>
          <p:cNvSpPr txBox="1"/>
          <p:nvPr/>
        </p:nvSpPr>
        <p:spPr>
          <a:xfrm>
            <a:off x="540588" y="531331"/>
            <a:ext cx="109497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this we split out the small/medium </a:t>
            </a:r>
            <a:r>
              <a:rPr lang="en-US" dirty="0" err="1"/>
              <a:t>zoopiscivoers</a:t>
            </a:r>
            <a:r>
              <a:rPr lang="en-US" dirty="0"/>
              <a:t> and have the large Piscivores eating them. What to do with the</a:t>
            </a:r>
          </a:p>
          <a:p>
            <a:r>
              <a:rPr lang="en-US" dirty="0"/>
              <a:t>Large fish that don’t eat fish?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36EFD46-60D0-A006-7ED6-5FDD967FBED8}"/>
              </a:ext>
            </a:extLst>
          </p:cNvPr>
          <p:cNvCxnSpPr>
            <a:cxnSpLocks/>
          </p:cNvCxnSpPr>
          <p:nvPr/>
        </p:nvCxnSpPr>
        <p:spPr>
          <a:xfrm>
            <a:off x="2222187" y="4016043"/>
            <a:ext cx="3782845" cy="0"/>
          </a:xfrm>
          <a:prstGeom prst="straightConnector1">
            <a:avLst/>
          </a:prstGeom>
          <a:ln w="1905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F77A36-A846-C387-D757-65EDB80BC0FC}"/>
              </a:ext>
            </a:extLst>
          </p:cNvPr>
          <p:cNvCxnSpPr>
            <a:cxnSpLocks/>
          </p:cNvCxnSpPr>
          <p:nvPr/>
        </p:nvCxnSpPr>
        <p:spPr>
          <a:xfrm>
            <a:off x="8644381" y="1778802"/>
            <a:ext cx="0" cy="4408357"/>
          </a:xfrm>
          <a:prstGeom prst="line">
            <a:avLst/>
          </a:prstGeom>
          <a:ln w="508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024922E-161F-5A7C-C552-4EC660C360CA}"/>
              </a:ext>
            </a:extLst>
          </p:cNvPr>
          <p:cNvSpPr txBox="1"/>
          <p:nvPr/>
        </p:nvSpPr>
        <p:spPr>
          <a:xfrm>
            <a:off x="9874067" y="2042675"/>
            <a:ext cx="10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Exclude?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5604F99-AFE2-2E1C-BA21-313A3C0E0A2C}"/>
              </a:ext>
            </a:extLst>
          </p:cNvPr>
          <p:cNvSpPr/>
          <p:nvPr/>
        </p:nvSpPr>
        <p:spPr>
          <a:xfrm>
            <a:off x="9329719" y="4481038"/>
            <a:ext cx="2139758" cy="202051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Habitat: Benthic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Size: Large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Food : </a:t>
            </a:r>
            <a:r>
              <a:rPr kumimoji="0" lang="en-US" sz="1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Zoopiscivore</a:t>
            </a:r>
            <a:endParaRPr kumimoji="0" lang="en-US" sz="12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2213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169AC7A-7EAE-F32F-6700-AE2FB5FFB459}"/>
              </a:ext>
            </a:extLst>
          </p:cNvPr>
          <p:cNvSpPr/>
          <p:nvPr/>
        </p:nvSpPr>
        <p:spPr>
          <a:xfrm>
            <a:off x="9011131" y="1089726"/>
            <a:ext cx="1947332" cy="18118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ID:BLB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Habitat: Benthic 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Size: Large 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Food : Benthivore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57B465-68D2-C9CB-72EB-A4D5EF352B1F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Multispecies model using functional groups of demersal fish 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CFF4A41-09F4-2CA3-2124-9CE52C858A31}"/>
              </a:ext>
            </a:extLst>
          </p:cNvPr>
          <p:cNvSpPr/>
          <p:nvPr/>
        </p:nvSpPr>
        <p:spPr>
          <a:xfrm>
            <a:off x="3196553" y="4870754"/>
            <a:ext cx="1947331" cy="19642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ID: BSB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Habitat: Benthic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Size: Small-Med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Food : 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Benthivore</a:t>
            </a:r>
            <a:endParaRPr kumimoji="0" lang="en-US" sz="12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8095D33-F7DC-B53E-2F84-F81444BDD77E}"/>
              </a:ext>
            </a:extLst>
          </p:cNvPr>
          <p:cNvSpPr/>
          <p:nvPr/>
        </p:nvSpPr>
        <p:spPr>
          <a:xfrm>
            <a:off x="3196765" y="1154545"/>
            <a:ext cx="1947331" cy="190784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ID: BSP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Habitat: Benthic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Size: Small-Med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Food : 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Piscivore</a:t>
            </a:r>
            <a:endParaRPr kumimoji="0" lang="en-US" sz="12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1DC430E-C3C1-8BD3-ACB8-0954F9B0C495}"/>
              </a:ext>
            </a:extLst>
          </p:cNvPr>
          <p:cNvCxnSpPr>
            <a:cxnSpLocks/>
            <a:stCxn id="16" idx="3"/>
            <a:endCxn id="6" idx="2"/>
          </p:cNvCxnSpPr>
          <p:nvPr/>
        </p:nvCxnSpPr>
        <p:spPr>
          <a:xfrm>
            <a:off x="573491" y="4580164"/>
            <a:ext cx="2623062" cy="1272724"/>
          </a:xfrm>
          <a:prstGeom prst="straightConnector1">
            <a:avLst/>
          </a:prstGeom>
          <a:ln w="1905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210EF7BA-F71A-9FF5-14F8-2335820D24E0}"/>
              </a:ext>
            </a:extLst>
          </p:cNvPr>
          <p:cNvSpPr/>
          <p:nvPr/>
        </p:nvSpPr>
        <p:spPr>
          <a:xfrm>
            <a:off x="288311" y="3033640"/>
            <a:ext cx="1947332" cy="18118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ID:BLP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Habitat: Benthic 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Size: Large 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Food : Piscivore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254D2B6-D8AF-84D9-A3B9-23F0422B6E86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298615" y="2108468"/>
            <a:ext cx="1898150" cy="925172"/>
          </a:xfrm>
          <a:prstGeom prst="straightConnector1">
            <a:avLst/>
          </a:prstGeom>
          <a:ln w="1905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1C9E6360-C5E7-90B2-4CDA-9E89B08F17F9}"/>
              </a:ext>
            </a:extLst>
          </p:cNvPr>
          <p:cNvSpPr/>
          <p:nvPr/>
        </p:nvSpPr>
        <p:spPr>
          <a:xfrm>
            <a:off x="6005032" y="2850239"/>
            <a:ext cx="2139758" cy="202051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Habitat: Benthic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Size: Small-Large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Food : </a:t>
            </a:r>
            <a:r>
              <a:rPr kumimoji="0" lang="en-US" sz="12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Zoopiscivore</a:t>
            </a:r>
            <a:endParaRPr kumimoji="0" lang="en-US" sz="12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D46786-F963-9D5D-566E-AECE256F15DE}"/>
              </a:ext>
            </a:extLst>
          </p:cNvPr>
          <p:cNvSpPr txBox="1"/>
          <p:nvPr/>
        </p:nvSpPr>
        <p:spPr>
          <a:xfrm>
            <a:off x="540588" y="531331"/>
            <a:ext cx="109288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this model the </a:t>
            </a:r>
            <a:r>
              <a:rPr lang="en-US" dirty="0" err="1"/>
              <a:t>zoopiscivores</a:t>
            </a:r>
            <a:r>
              <a:rPr lang="en-US" dirty="0"/>
              <a:t> would be messing with everyone by eating all the babies and lower their lambda’s..</a:t>
            </a:r>
          </a:p>
          <a:p>
            <a:r>
              <a:rPr lang="en-US" dirty="0"/>
              <a:t>How we could </a:t>
            </a:r>
            <a:r>
              <a:rPr lang="en-US"/>
              <a:t>model lowering </a:t>
            </a:r>
            <a:r>
              <a:rPr lang="en-US" dirty="0"/>
              <a:t>the lambda’s I haven’t figured out!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E631EBF1-7F9D-20C6-A688-B5E95AC75FF5}"/>
              </a:ext>
            </a:extLst>
          </p:cNvPr>
          <p:cNvCxnSpPr>
            <a:cxnSpLocks/>
            <a:stCxn id="23" idx="6"/>
            <a:endCxn id="4" idx="2"/>
          </p:cNvCxnSpPr>
          <p:nvPr/>
        </p:nvCxnSpPr>
        <p:spPr>
          <a:xfrm flipV="1">
            <a:off x="8144790" y="1995659"/>
            <a:ext cx="866341" cy="18648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11715DCF-CB96-70CE-F3EA-D597FC9408EB}"/>
              </a:ext>
            </a:extLst>
          </p:cNvPr>
          <p:cNvCxnSpPr>
            <a:cxnSpLocks/>
            <a:endCxn id="16" idx="6"/>
          </p:cNvCxnSpPr>
          <p:nvPr/>
        </p:nvCxnSpPr>
        <p:spPr>
          <a:xfrm rot="10800000" flipV="1">
            <a:off x="2235644" y="3824361"/>
            <a:ext cx="3761889" cy="1152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74717317-8D94-0E16-49E3-9B974DA884D6}"/>
              </a:ext>
            </a:extLst>
          </p:cNvPr>
          <p:cNvCxnSpPr>
            <a:cxnSpLocks/>
            <a:endCxn id="6" idx="6"/>
          </p:cNvCxnSpPr>
          <p:nvPr/>
        </p:nvCxnSpPr>
        <p:spPr>
          <a:xfrm rot="10800000" flipV="1">
            <a:off x="5143884" y="4870754"/>
            <a:ext cx="1931028" cy="982134"/>
          </a:xfrm>
          <a:prstGeom prst="bentConnector3">
            <a:avLst>
              <a:gd name="adj1" fmla="val -261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3FED29F8-341D-E3DA-17EF-A759FC65E3F3}"/>
              </a:ext>
            </a:extLst>
          </p:cNvPr>
          <p:cNvCxnSpPr>
            <a:cxnSpLocks/>
          </p:cNvCxnSpPr>
          <p:nvPr/>
        </p:nvCxnSpPr>
        <p:spPr>
          <a:xfrm rot="10800000">
            <a:off x="5151596" y="1963811"/>
            <a:ext cx="1890651" cy="886428"/>
          </a:xfrm>
          <a:prstGeom prst="bentConnector3">
            <a:avLst>
              <a:gd name="adj1" fmla="val -373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69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F57B465-68D2-C9CB-72EB-A4D5EF352B1F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Benthic Small Piscivores – What stocks do we model here?  K-space partition happening here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10EF7BA-F71A-9FF5-14F8-2335820D24E0}"/>
              </a:ext>
            </a:extLst>
          </p:cNvPr>
          <p:cNvSpPr/>
          <p:nvPr/>
        </p:nvSpPr>
        <p:spPr>
          <a:xfrm>
            <a:off x="4090525" y="2660843"/>
            <a:ext cx="1947332" cy="18118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ID: BSP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K  =100%</a:t>
            </a:r>
            <a:endParaRPr kumimoji="0" lang="en-US" sz="12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Habitat: Benthic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Size: Small-Med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Food : 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Piscivore</a:t>
            </a:r>
            <a:endParaRPr kumimoji="0" lang="en-US" sz="12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254D2B6-D8AF-84D9-A3B9-23F0422B6E86}"/>
              </a:ext>
            </a:extLst>
          </p:cNvPr>
          <p:cNvCxnSpPr>
            <a:cxnSpLocks/>
            <a:stCxn id="16" idx="2"/>
            <a:endCxn id="3" idx="6"/>
          </p:cNvCxnSpPr>
          <p:nvPr/>
        </p:nvCxnSpPr>
        <p:spPr>
          <a:xfrm flipH="1">
            <a:off x="2538914" y="3566776"/>
            <a:ext cx="1551611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DF02967-F0C4-63BD-16E4-9D84983E5728}"/>
              </a:ext>
            </a:extLst>
          </p:cNvPr>
          <p:cNvCxnSpPr>
            <a:cxnSpLocks/>
          </p:cNvCxnSpPr>
          <p:nvPr/>
        </p:nvCxnSpPr>
        <p:spPr>
          <a:xfrm>
            <a:off x="5863890" y="4029026"/>
            <a:ext cx="532149" cy="1251936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2C131E-A53A-71A9-CBE1-996DEA297A94}"/>
              </a:ext>
            </a:extLst>
          </p:cNvPr>
          <p:cNvCxnSpPr>
            <a:cxnSpLocks/>
            <a:stCxn id="16" idx="6"/>
            <a:endCxn id="35" idx="2"/>
          </p:cNvCxnSpPr>
          <p:nvPr/>
        </p:nvCxnSpPr>
        <p:spPr>
          <a:xfrm>
            <a:off x="6037857" y="3566776"/>
            <a:ext cx="2305514" cy="601236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A504E2-C0F0-AA7F-D3B6-A6EE52EB2619}"/>
              </a:ext>
            </a:extLst>
          </p:cNvPr>
          <p:cNvCxnSpPr>
            <a:cxnSpLocks/>
            <a:stCxn id="16" idx="4"/>
            <a:endCxn id="26" idx="0"/>
          </p:cNvCxnSpPr>
          <p:nvPr/>
        </p:nvCxnSpPr>
        <p:spPr>
          <a:xfrm flipH="1">
            <a:off x="4710175" y="4472709"/>
            <a:ext cx="354016" cy="91328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A1C547D-56DC-2E5E-AE6C-C8A977502115}"/>
              </a:ext>
            </a:extLst>
          </p:cNvPr>
          <p:cNvCxnSpPr>
            <a:cxnSpLocks/>
            <a:endCxn id="9" idx="7"/>
          </p:cNvCxnSpPr>
          <p:nvPr/>
        </p:nvCxnSpPr>
        <p:spPr>
          <a:xfrm flipH="1">
            <a:off x="3397293" y="4228875"/>
            <a:ext cx="997188" cy="52621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C3283362-8EF3-0793-48D0-19034993A9CD}"/>
              </a:ext>
            </a:extLst>
          </p:cNvPr>
          <p:cNvSpPr/>
          <p:nvPr/>
        </p:nvSpPr>
        <p:spPr>
          <a:xfrm>
            <a:off x="1016125" y="2823073"/>
            <a:ext cx="1522789" cy="148740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ID: BSP-14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Silver Hake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 ≈ 53.3%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9A4898B-A0D4-1821-C069-9E95E6C91390}"/>
              </a:ext>
            </a:extLst>
          </p:cNvPr>
          <p:cNvSpPr/>
          <p:nvPr/>
        </p:nvSpPr>
        <p:spPr>
          <a:xfrm>
            <a:off x="2097511" y="4537259"/>
            <a:ext cx="1522789" cy="148740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ID: BSP-42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YT Flounder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 ≈ 29.2%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8D03518-97B6-9366-4110-957E908BF008}"/>
              </a:ext>
            </a:extLst>
          </p:cNvPr>
          <p:cNvSpPr/>
          <p:nvPr/>
        </p:nvSpPr>
        <p:spPr>
          <a:xfrm>
            <a:off x="4014563" y="5385989"/>
            <a:ext cx="1391223" cy="692849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ID: BSP-300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LH </a:t>
            </a:r>
            <a:r>
              <a:rPr lang="en-US" sz="10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Scuplin</a:t>
            </a:r>
            <a:endParaRPr kumimoji="0" lang="en-US" sz="10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 ≈ 10.9%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5EF5E86-36D2-194F-86B8-E84CDA30B1EB}"/>
              </a:ext>
            </a:extLst>
          </p:cNvPr>
          <p:cNvSpPr/>
          <p:nvPr/>
        </p:nvSpPr>
        <p:spPr>
          <a:xfrm>
            <a:off x="5701676" y="5280962"/>
            <a:ext cx="1391223" cy="692849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ID: BSP-320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Sea Raven</a:t>
            </a:r>
            <a:endParaRPr kumimoji="0" lang="en-US" sz="10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 ≈ 5.9%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0516B4E-C658-342F-BB3D-247A8AA7CBA1}"/>
              </a:ext>
            </a:extLst>
          </p:cNvPr>
          <p:cNvGrpSpPr/>
          <p:nvPr/>
        </p:nvGrpSpPr>
        <p:grpSpPr>
          <a:xfrm>
            <a:off x="8343371" y="3055061"/>
            <a:ext cx="3447079" cy="2225901"/>
            <a:chOff x="7375183" y="1621000"/>
            <a:chExt cx="3447079" cy="2225901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1271682-4CBB-1025-32B6-7B6D546F0253}"/>
                </a:ext>
              </a:extLst>
            </p:cNvPr>
            <p:cNvSpPr/>
            <p:nvPr/>
          </p:nvSpPr>
          <p:spPr>
            <a:xfrm>
              <a:off x="7375183" y="1621000"/>
              <a:ext cx="3447079" cy="2225901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B24460A-5704-402D-E6C8-A0265E42F9A6}"/>
                </a:ext>
              </a:extLst>
            </p:cNvPr>
            <p:cNvSpPr/>
            <p:nvPr/>
          </p:nvSpPr>
          <p:spPr>
            <a:xfrm>
              <a:off x="8756027" y="2142693"/>
              <a:ext cx="1391223" cy="456022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 w="0"/>
                  <a:solidFill>
                    <a:prstClr val="black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/>
                  <a:ea typeface="+mn-ea"/>
                  <a:cs typeface="+mn-cs"/>
                </a:rPr>
                <a:t>ID: BSP-19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ln w="0"/>
                  <a:solidFill>
                    <a:prstClr val="black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latin typeface="Calibri" panose="020F0502020204030204"/>
                </a:rPr>
                <a:t>Offshore Hake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 w="0"/>
                  <a:solidFill>
                    <a:prstClr val="black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/>
                  <a:ea typeface="+mn-ea"/>
                  <a:cs typeface="+mn-cs"/>
                </a:rPr>
                <a:t>K ≈ 0.6%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597E1C7-22E2-0936-8567-DCDBD6327562}"/>
                </a:ext>
              </a:extLst>
            </p:cNvPr>
            <p:cNvSpPr/>
            <p:nvPr/>
          </p:nvSpPr>
          <p:spPr>
            <a:xfrm>
              <a:off x="9318634" y="2788635"/>
              <a:ext cx="1391223" cy="456022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 w="0"/>
                  <a:solidFill>
                    <a:prstClr val="black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/>
                  <a:ea typeface="+mn-ea"/>
                  <a:cs typeface="+mn-cs"/>
                </a:rPr>
                <a:t>ID: BSP-118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 w="0"/>
                  <a:solidFill>
                    <a:prstClr val="black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/>
                  <a:ea typeface="+mn-ea"/>
                  <a:cs typeface="+mn-cs"/>
                </a:rPr>
                <a:t>GL cod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 w="0"/>
                  <a:solidFill>
                    <a:prstClr val="black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/>
                  <a:ea typeface="+mn-ea"/>
                  <a:cs typeface="+mn-cs"/>
                </a:rPr>
                <a:t>K ≈ 0%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47BCCE9-6604-C389-EF1A-703716C5D76E}"/>
                </a:ext>
              </a:extLst>
            </p:cNvPr>
            <p:cNvSpPr/>
            <p:nvPr/>
          </p:nvSpPr>
          <p:spPr>
            <a:xfrm>
              <a:off x="7912452" y="3016646"/>
              <a:ext cx="1391223" cy="456022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 w="0"/>
                  <a:solidFill>
                    <a:prstClr val="black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/>
                  <a:ea typeface="+mn-ea"/>
                  <a:cs typeface="+mn-cs"/>
                </a:rPr>
                <a:t>ID: BSP-143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ln w="0"/>
                  <a:solidFill>
                    <a:prstClr val="black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latin typeface="Calibri" panose="020F0502020204030204"/>
                </a:rPr>
                <a:t>Window/Brill</a:t>
              </a:r>
              <a:endParaRPr kumimoji="0" lang="en-US" sz="10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 w="0"/>
                  <a:solidFill>
                    <a:prstClr val="black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/>
                  <a:ea typeface="+mn-ea"/>
                  <a:cs typeface="+mn-cs"/>
                </a:rPr>
                <a:t>K ≈ 0.1%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8F7B835-ABF6-04BF-523D-3852DE112595}"/>
                </a:ext>
              </a:extLst>
            </p:cNvPr>
            <p:cNvSpPr/>
            <p:nvPr/>
          </p:nvSpPr>
          <p:spPr>
            <a:xfrm>
              <a:off x="7534957" y="2467365"/>
              <a:ext cx="1391223" cy="456022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 w="0"/>
                  <a:solidFill>
                    <a:prstClr val="black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/>
                  <a:ea typeface="+mn-ea"/>
                  <a:cs typeface="+mn-cs"/>
                </a:rPr>
                <a:t>ID: BSP-149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 w="0"/>
                  <a:solidFill>
                    <a:prstClr val="black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/>
                  <a:ea typeface="+mn-ea"/>
                  <a:cs typeface="+mn-cs"/>
                </a:rPr>
                <a:t>LN  </a:t>
              </a:r>
              <a:r>
                <a:rPr kumimoji="0" lang="en-US" sz="1000" b="0" i="0" u="none" strike="noStrike" kern="1200" cap="none" spc="0" normalizeH="0" baseline="0" noProof="0" dirty="0" err="1">
                  <a:ln w="0"/>
                  <a:solidFill>
                    <a:prstClr val="black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/>
                  <a:ea typeface="+mn-ea"/>
                  <a:cs typeface="+mn-cs"/>
                </a:rPr>
                <a:t>Greeneye</a:t>
              </a:r>
              <a:endParaRPr kumimoji="0" lang="en-US" sz="10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 w="0"/>
                  <a:solidFill>
                    <a:prstClr val="black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/>
                  <a:ea typeface="+mn-ea"/>
                  <a:cs typeface="+mn-cs"/>
                </a:rPr>
                <a:t>K ≈ 0%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57734E4-67A2-957D-7098-ADEE3032D9C3}"/>
                </a:ext>
              </a:extLst>
            </p:cNvPr>
            <p:cNvSpPr txBox="1"/>
            <p:nvPr/>
          </p:nvSpPr>
          <p:spPr>
            <a:xfrm>
              <a:off x="8608063" y="1745210"/>
              <a:ext cx="10990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Exclude?</a:t>
              </a:r>
            </a:p>
          </p:txBody>
        </p:sp>
      </p:grp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9B7B2D6F-98D5-0D29-7CB0-D5DDA0F10434}"/>
              </a:ext>
            </a:extLst>
          </p:cNvPr>
          <p:cNvCxnSpPr>
            <a:cxnSpLocks/>
          </p:cNvCxnSpPr>
          <p:nvPr/>
        </p:nvCxnSpPr>
        <p:spPr>
          <a:xfrm rot="16200000" flipV="1">
            <a:off x="4455520" y="2020453"/>
            <a:ext cx="974535" cy="2428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90B88858-C442-5D5E-75A6-A7821F0309EA}"/>
              </a:ext>
            </a:extLst>
          </p:cNvPr>
          <p:cNvSpPr txBox="1"/>
          <p:nvPr/>
        </p:nvSpPr>
        <p:spPr>
          <a:xfrm>
            <a:off x="3702952" y="953656"/>
            <a:ext cx="223685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To FG interaction(s) component of model</a:t>
            </a:r>
          </a:p>
        </p:txBody>
      </p:sp>
    </p:spTree>
    <p:extLst>
      <p:ext uri="{BB962C8B-B14F-4D97-AF65-F5344CB8AC3E}">
        <p14:creationId xmlns:p14="http://schemas.microsoft.com/office/powerpoint/2010/main" val="2225145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F57B465-68D2-C9CB-72EB-A4D5EF352B1F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Benthic Large Piscivores- What stocks do we model here?  K-space partition happening here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C72928F-FBDB-C18F-1FD4-78A1E45D3606}"/>
              </a:ext>
            </a:extLst>
          </p:cNvPr>
          <p:cNvSpPr/>
          <p:nvPr/>
        </p:nvSpPr>
        <p:spPr>
          <a:xfrm>
            <a:off x="1816838" y="693759"/>
            <a:ext cx="1947332" cy="18118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ID:BLP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Habitat: Benthic 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Size: Large 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Food : Piscivore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2D0AB2F-F411-DF6B-F702-62EA748A9BCE}"/>
              </a:ext>
            </a:extLst>
          </p:cNvPr>
          <p:cNvCxnSpPr>
            <a:cxnSpLocks/>
            <a:stCxn id="11" idx="2"/>
          </p:cNvCxnSpPr>
          <p:nvPr/>
        </p:nvCxnSpPr>
        <p:spPr>
          <a:xfrm flipH="1" flipV="1">
            <a:off x="3764170" y="1580958"/>
            <a:ext cx="2365067" cy="36946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8CA98DD-BCA8-B847-6A0E-BD9A8B547672}"/>
              </a:ext>
            </a:extLst>
          </p:cNvPr>
          <p:cNvSpPr/>
          <p:nvPr/>
        </p:nvSpPr>
        <p:spPr>
          <a:xfrm>
            <a:off x="6129237" y="874201"/>
            <a:ext cx="1522789" cy="148740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ID: BLP 10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Atlantic cod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 ≈ 27%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B77796D-2E93-5A0E-B8D4-7C0683327D5A}"/>
              </a:ext>
            </a:extLst>
          </p:cNvPr>
          <p:cNvCxnSpPr>
            <a:cxnSpLocks/>
          </p:cNvCxnSpPr>
          <p:nvPr/>
        </p:nvCxnSpPr>
        <p:spPr>
          <a:xfrm flipH="1" flipV="1">
            <a:off x="3697697" y="1905385"/>
            <a:ext cx="2278230" cy="80087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5AF282E-1757-B83F-1C1C-64F781E7CBC3}"/>
              </a:ext>
            </a:extLst>
          </p:cNvPr>
          <p:cNvCxnSpPr>
            <a:cxnSpLocks/>
          </p:cNvCxnSpPr>
          <p:nvPr/>
        </p:nvCxnSpPr>
        <p:spPr>
          <a:xfrm flipH="1" flipV="1">
            <a:off x="3521926" y="2205505"/>
            <a:ext cx="2123103" cy="114746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98BAD190-C85D-63D9-9521-0B27593AC56C}"/>
              </a:ext>
            </a:extLst>
          </p:cNvPr>
          <p:cNvCxnSpPr>
            <a:cxnSpLocks/>
          </p:cNvCxnSpPr>
          <p:nvPr/>
        </p:nvCxnSpPr>
        <p:spPr>
          <a:xfrm rot="5400000">
            <a:off x="1006042" y="1842684"/>
            <a:ext cx="1037962" cy="588403"/>
          </a:xfrm>
          <a:prstGeom prst="bentConnector3">
            <a:avLst>
              <a:gd name="adj1" fmla="val 1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E6B0A80-9702-31E7-BD09-06E8566F5DEB}"/>
              </a:ext>
            </a:extLst>
          </p:cNvPr>
          <p:cNvSpPr txBox="1"/>
          <p:nvPr/>
        </p:nvSpPr>
        <p:spPr>
          <a:xfrm>
            <a:off x="223231" y="2676906"/>
            <a:ext cx="223685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To FG interaction(s) component of model</a:t>
            </a:r>
          </a:p>
        </p:txBody>
      </p:sp>
    </p:spTree>
    <p:extLst>
      <p:ext uri="{BB962C8B-B14F-4D97-AF65-F5344CB8AC3E}">
        <p14:creationId xmlns:p14="http://schemas.microsoft.com/office/powerpoint/2010/main" val="1524202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470</Words>
  <Application>Microsoft Office PowerPoint</Application>
  <PresentationFormat>Widescreen</PresentationFormat>
  <Paragraphs>113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Keith, David (DFO/MPO)</dc:creator>
  <cp:lastModifiedBy>Keith, David (DFO/MPO)</cp:lastModifiedBy>
  <cp:revision>4</cp:revision>
  <dcterms:created xsi:type="dcterms:W3CDTF">2025-08-21T16:32:06Z</dcterms:created>
  <dcterms:modified xsi:type="dcterms:W3CDTF">2025-08-21T18:26:33Z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e6cdb53-fd15-486d-84de-c510e3a62203_Enabled">
    <vt:lpwstr>true</vt:lpwstr>
  </property>
  <property fmtid="{D5CDD505-2E9C-101B-9397-08002B2CF9AE}" pid="3" name="MSIP_Label_4e6cdb53-fd15-486d-84de-c510e3a62203_SetDate">
    <vt:lpwstr>2025-08-21T17:40:33Z</vt:lpwstr>
  </property>
  <property fmtid="{D5CDD505-2E9C-101B-9397-08002B2CF9AE}" pid="4" name="MSIP_Label_4e6cdb53-fd15-486d-84de-c510e3a62203_Method">
    <vt:lpwstr>Standard</vt:lpwstr>
  </property>
  <property fmtid="{D5CDD505-2E9C-101B-9397-08002B2CF9AE}" pid="5" name="MSIP_Label_4e6cdb53-fd15-486d-84de-c510e3a62203_Name">
    <vt:lpwstr>UNCLASSIFIED - NON-CLASSIFIÉ</vt:lpwstr>
  </property>
  <property fmtid="{D5CDD505-2E9C-101B-9397-08002B2CF9AE}" pid="6" name="MSIP_Label_4e6cdb53-fd15-486d-84de-c510e3a62203_SiteId">
    <vt:lpwstr>1594fdae-a1d9-4405-915d-011467234338</vt:lpwstr>
  </property>
  <property fmtid="{D5CDD505-2E9C-101B-9397-08002B2CF9AE}" pid="7" name="MSIP_Label_4e6cdb53-fd15-486d-84de-c510e3a62203_ActionId">
    <vt:lpwstr>8a7cf307-e449-4dab-8bf2-baf11341f26c</vt:lpwstr>
  </property>
  <property fmtid="{D5CDD505-2E9C-101B-9397-08002B2CF9AE}" pid="8" name="MSIP_Label_4e6cdb53-fd15-486d-84de-c510e3a62203_ContentBits">
    <vt:lpwstr>1</vt:lpwstr>
  </property>
  <property fmtid="{D5CDD505-2E9C-101B-9397-08002B2CF9AE}" pid="9" name="ClassificationContentMarkingHeaderLocations">
    <vt:lpwstr>Office Theme:8</vt:lpwstr>
  </property>
  <property fmtid="{D5CDD505-2E9C-101B-9397-08002B2CF9AE}" pid="10" name="ClassificationContentMarkingHeaderText">
    <vt:lpwstr>Unclassified - Non-Classifié</vt:lpwstr>
  </property>
</Properties>
</file>