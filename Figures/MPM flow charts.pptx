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6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B588-46BB-AD26-0E02-5700E000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8783C-5EA9-3DCD-BFB7-F69552439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BDBC0-403E-0333-B9EB-2E18A2D26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E1F74-79E2-42A7-9A85-0CB491F4CB6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C4EF5-BCFE-945C-8A21-8AADE98C0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0BD6D-B985-11EA-703E-C637CBC72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FA913-090C-4D94-BCB0-27450125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0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F5A34-0E77-B4B7-2AA9-DCFC2C996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90DF6-587F-0F37-C49C-A953EC065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B90DE-A178-5834-715D-7391C5A33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E1F74-79E2-42A7-9A85-0CB491F4CB6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0C3A8-0732-D384-A660-0338C08D8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E6131-2FC9-6246-BD4C-7A2842A9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FA913-090C-4D94-BCB0-27450125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62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5B129-29DF-6580-6597-7E5C2EBA6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48F3F-E03E-237D-06F9-0598E270B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68B29-8333-1A43-FD03-804CEC463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E1F74-79E2-42A7-9A85-0CB491F4CB6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92A31-8DD1-6A99-709A-67D7B34AB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40A50-D047-FA82-694C-7D9F94144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FA913-090C-4D94-BCB0-27450125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8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DAEE-899D-5528-F39D-EFCDA19DD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14B66-436D-1925-5DF5-DFE2994EF8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B35BD-FFA2-C679-91D8-567D126FB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40F1B-EE36-C55F-3EB2-56C689306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E1F74-79E2-42A7-9A85-0CB491F4CB6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6DDFD-523D-4E1B-DF2E-923C3C80F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B5B36-3D8D-7497-A344-28583D948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FA913-090C-4D94-BCB0-27450125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359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FE9E2-562D-B57C-3CBE-286B50333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26682-39A5-0794-42D3-9FFFA6953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46B665-1259-AB98-4AA5-D03ED55E3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92F44E-B9A6-2BCF-0341-3B75A8080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1A63D-5C7F-B902-2C8A-C206CD70A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0E1F81-B5C4-7D12-FD4E-74B12BA8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E1F74-79E2-42A7-9A85-0CB491F4CB6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695D69-8344-A297-A962-A050887F5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0C8DCC-D79A-D9CB-6BB6-BCCB92703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FA913-090C-4D94-BCB0-27450125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02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04DD-024E-F62B-8891-F12FF9AC5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586F4-F0DF-B70C-8F2B-22951DDB3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E1F74-79E2-42A7-9A85-0CB491F4CB6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83BDE-8CD3-F1F8-90F1-415AA4E04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15FC2-0426-6441-1EC4-037EC7C35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FA913-090C-4D94-BCB0-27450125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3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8F5B1B-AC26-E233-6494-5B4DA632A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E1F74-79E2-42A7-9A85-0CB491F4CB6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553937-E8AE-744E-439A-B68EE693C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B172A-B900-98E6-DB51-FCAD1BDB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FA913-090C-4D94-BCB0-27450125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65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5F3F-0D2A-E896-9CDF-AD52583ED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F29CF-1135-03A9-6812-76CB9C27C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AED4D-59ED-07EF-581A-BD7299A0E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E816B-3E67-EE82-BA0F-2176DD72A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E1F74-79E2-42A7-9A85-0CB491F4CB6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077BD-E89F-5E17-CC77-B12BF6CC6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8F0B9-0F3B-1692-5804-7006DDBF6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FA913-090C-4D94-BCB0-27450125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19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531E-8F71-7435-F533-80182F32A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52490C-30C9-E5C2-6F8F-ECD087AEBE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3B9EA-0482-F627-E54F-CBAC2CCCA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BCAA4-178A-6EE0-8AAA-3763357BB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E1F74-79E2-42A7-9A85-0CB491F4CB6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833FE-C72F-854D-F9F1-518DDE63F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AA74D-F5D3-2DAA-64CB-575789A6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FA913-090C-4D94-BCB0-27450125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31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18EBF-7B35-2391-D63A-4BBC3B88F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AF3DB-49C6-315D-5F5A-AA50B6FF9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3D6EB-67AE-536C-CA24-3BC7640E3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E1F74-79E2-42A7-9A85-0CB491F4CB6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0B3F5-F7FD-8EDB-818B-1276FFB96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914E-3F6E-E994-2DD2-77CB011AE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FA913-090C-4D94-BCB0-27450125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8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61FF3A-0A27-CC54-E43D-640A123CDA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BCEAD-8FB2-BED9-C31B-8120A8FFF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E11E4-CE17-A8F4-48EC-F384983FD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E1F74-79E2-42A7-9A85-0CB491F4CB6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2264E-E860-8E34-C398-FB868DD83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BD2F1-2062-3B8F-F186-D7414A6CD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FA913-090C-4D94-BCB0-27450125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65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A07D6-A064-88CC-1494-F60E811CB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8948-0FAE-135E-19DE-EF32242F0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6EC34-6711-1D2E-1A84-E65854311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E1F74-79E2-42A7-9A85-0CB491F4CB6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559CC-A279-080E-C450-EE5EAA838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69FCC-099E-A769-A5A5-860C04CF7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4FA913-090C-4D94-BCB0-27450125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30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8E6A1-DE1C-F54B-FCDD-55779CBD0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68CCC1AC-E0D6-0079-F8EF-B5EA8D15AB87}"/>
              </a:ext>
            </a:extLst>
          </p:cNvPr>
          <p:cNvSpPr/>
          <p:nvPr/>
        </p:nvSpPr>
        <p:spPr>
          <a:xfrm>
            <a:off x="2598170" y="255879"/>
            <a:ext cx="2085106" cy="1261070"/>
          </a:xfrm>
          <a:prstGeom prst="flowChartAlternateProces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r>
              <a:rPr lang="en-US" baseline="-25000" dirty="0"/>
              <a:t>t</a:t>
            </a:r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91B9F33-F1D8-4379-EE32-1A2590A98DCC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683276" y="886414"/>
            <a:ext cx="2231744" cy="16165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20CC6E8-3D19-CF37-85B6-DFC7C4258239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3506659" y="1536055"/>
            <a:ext cx="0" cy="2551093"/>
          </a:xfrm>
          <a:prstGeom prst="straightConnector1">
            <a:avLst/>
          </a:prstGeom>
          <a:ln w="63500" cap="flat" cmpd="sng" algn="ctr">
            <a:solidFill>
              <a:srgbClr val="C00000"/>
            </a:solidFill>
            <a:prstDash val="sysDash"/>
            <a:round/>
            <a:headEnd type="none" w="sm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9463CA-9BE4-6362-25C5-415201BE9252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1381421" y="2486781"/>
            <a:ext cx="0" cy="2894319"/>
          </a:xfrm>
          <a:prstGeom prst="straightConnector1">
            <a:avLst/>
          </a:prstGeom>
          <a:ln w="63500" cap="flat" cmpd="sng" algn="ctr">
            <a:solidFill>
              <a:srgbClr val="C00000"/>
            </a:solidFill>
            <a:prstDash val="sysDash"/>
            <a:round/>
            <a:headEnd type="none" w="sm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AD3E02-195A-C2C8-D969-C9ACAC3FDE2D}"/>
              </a:ext>
            </a:extLst>
          </p:cNvPr>
          <p:cNvCxnSpPr>
            <a:cxnSpLocks/>
          </p:cNvCxnSpPr>
          <p:nvPr/>
        </p:nvCxnSpPr>
        <p:spPr>
          <a:xfrm>
            <a:off x="5823147" y="2545411"/>
            <a:ext cx="0" cy="589675"/>
          </a:xfrm>
          <a:prstGeom prst="straightConnector1">
            <a:avLst/>
          </a:prstGeom>
          <a:ln w="63500" cap="flat" cmpd="sng" algn="ctr">
            <a:solidFill>
              <a:srgbClr val="C00000"/>
            </a:solidFill>
            <a:prstDash val="sysDash"/>
            <a:round/>
            <a:headEnd type="none" w="sm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F31126E-6166-5E9C-7666-53F4CA925993}"/>
              </a:ext>
            </a:extLst>
          </p:cNvPr>
          <p:cNvCxnSpPr>
            <a:cxnSpLocks/>
          </p:cNvCxnSpPr>
          <p:nvPr/>
        </p:nvCxnSpPr>
        <p:spPr>
          <a:xfrm>
            <a:off x="1411406" y="2486781"/>
            <a:ext cx="4452365" cy="0"/>
          </a:xfrm>
          <a:prstGeom prst="straightConnector1">
            <a:avLst/>
          </a:prstGeom>
          <a:ln w="63500" cap="flat" cmpd="sng" algn="ctr">
            <a:solidFill>
              <a:srgbClr val="C00000"/>
            </a:solidFill>
            <a:prstDash val="sysDash"/>
            <a:round/>
            <a:headEnd type="none" w="sm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038E40AE-BE9A-815A-B49D-2E33FE994B7E}"/>
              </a:ext>
            </a:extLst>
          </p:cNvPr>
          <p:cNvSpPr/>
          <p:nvPr/>
        </p:nvSpPr>
        <p:spPr>
          <a:xfrm>
            <a:off x="694533" y="5381100"/>
            <a:ext cx="1373775" cy="1015431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TL</a:t>
            </a:r>
            <a:r>
              <a:rPr lang="en-US" baseline="-25000" dirty="0"/>
              <a:t>3,t</a:t>
            </a:r>
            <a:endParaRPr lang="en-US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C2685246-5304-7B89-B88C-F191FCC9EFFD}"/>
              </a:ext>
            </a:extLst>
          </p:cNvPr>
          <p:cNvSpPr/>
          <p:nvPr/>
        </p:nvSpPr>
        <p:spPr>
          <a:xfrm>
            <a:off x="3000602" y="4087148"/>
            <a:ext cx="1012114" cy="778888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TL</a:t>
            </a:r>
            <a:r>
              <a:rPr lang="en-US" baseline="-25000" dirty="0"/>
              <a:t>4,t</a:t>
            </a:r>
            <a:endParaRPr lang="en-US" dirty="0"/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DB53AE94-5295-0831-11AA-4189FC65F044}"/>
              </a:ext>
            </a:extLst>
          </p:cNvPr>
          <p:cNvSpPr/>
          <p:nvPr/>
        </p:nvSpPr>
        <p:spPr>
          <a:xfrm>
            <a:off x="5369220" y="3097875"/>
            <a:ext cx="907853" cy="66225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TL</a:t>
            </a:r>
            <a:r>
              <a:rPr lang="en-US" baseline="-25000" dirty="0"/>
              <a:t>5,t</a:t>
            </a:r>
            <a:endParaRPr lang="en-US" dirty="0"/>
          </a:p>
        </p:txBody>
      </p:sp>
      <p:sp>
        <p:nvSpPr>
          <p:cNvPr id="35" name="Flowchart: Data 34">
            <a:extLst>
              <a:ext uri="{FF2B5EF4-FFF2-40B4-BE49-F238E27FC236}">
                <a16:creationId xmlns:a16="http://schemas.microsoft.com/office/drawing/2014/main" id="{5AD39FC8-A07D-365B-7B01-9500E9092F21}"/>
              </a:ext>
            </a:extLst>
          </p:cNvPr>
          <p:cNvSpPr/>
          <p:nvPr/>
        </p:nvSpPr>
        <p:spPr>
          <a:xfrm>
            <a:off x="6314214" y="5619924"/>
            <a:ext cx="1581203" cy="572026"/>
          </a:xfrm>
          <a:prstGeom prst="flowChartInputOutp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ARIMA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6051671-04D0-91C7-D637-EFF06B041946}"/>
              </a:ext>
            </a:extLst>
          </p:cNvPr>
          <p:cNvCxnSpPr>
            <a:cxnSpLocks/>
            <a:stCxn id="21" idx="3"/>
            <a:endCxn id="35" idx="2"/>
          </p:cNvCxnSpPr>
          <p:nvPr/>
        </p:nvCxnSpPr>
        <p:spPr>
          <a:xfrm>
            <a:off x="2068308" y="5888816"/>
            <a:ext cx="4404026" cy="1712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8A23469-C10C-912B-1B25-6E78B8AD67AF}"/>
              </a:ext>
            </a:extLst>
          </p:cNvPr>
          <p:cNvCxnSpPr>
            <a:cxnSpLocks/>
          </p:cNvCxnSpPr>
          <p:nvPr/>
        </p:nvCxnSpPr>
        <p:spPr>
          <a:xfrm flipV="1">
            <a:off x="4615542" y="3429000"/>
            <a:ext cx="0" cy="24769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978DB87-B929-96A6-DBB6-4586FDC246FB}"/>
              </a:ext>
            </a:extLst>
          </p:cNvPr>
          <p:cNvCxnSpPr>
            <a:cxnSpLocks/>
          </p:cNvCxnSpPr>
          <p:nvPr/>
        </p:nvCxnSpPr>
        <p:spPr>
          <a:xfrm flipV="1">
            <a:off x="6906380" y="886414"/>
            <a:ext cx="8640" cy="47335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7651D5D-0FA5-76B8-B7C6-2A4D11461AF7}"/>
              </a:ext>
            </a:extLst>
          </p:cNvPr>
          <p:cNvCxnSpPr>
            <a:cxnSpLocks/>
          </p:cNvCxnSpPr>
          <p:nvPr/>
        </p:nvCxnSpPr>
        <p:spPr>
          <a:xfrm>
            <a:off x="4012716" y="4483870"/>
            <a:ext cx="602826" cy="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C96A9A3-BE65-A8C7-D0E8-D1E688628419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4615542" y="3429000"/>
            <a:ext cx="753678" cy="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053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2792C-D855-FC58-1881-A2AECB9C9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2046DB00-832A-8D34-7445-09ADBB94B9FA}"/>
              </a:ext>
            </a:extLst>
          </p:cNvPr>
          <p:cNvSpPr/>
          <p:nvPr/>
        </p:nvSpPr>
        <p:spPr>
          <a:xfrm>
            <a:off x="7891498" y="3797365"/>
            <a:ext cx="2085106" cy="1261070"/>
          </a:xfrm>
          <a:prstGeom prst="flowChartAlternateProces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r>
              <a:rPr lang="en-US" baseline="-25000" dirty="0"/>
              <a:t>t</a:t>
            </a:r>
            <a:endParaRPr lang="en-US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A9D11EA5-361E-5E22-5074-1F09F873C607}"/>
              </a:ext>
            </a:extLst>
          </p:cNvPr>
          <p:cNvSpPr/>
          <p:nvPr/>
        </p:nvSpPr>
        <p:spPr>
          <a:xfrm>
            <a:off x="9743419" y="928295"/>
            <a:ext cx="959945" cy="43749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r>
              <a:rPr lang="en-US" baseline="-25000" dirty="0"/>
              <a:t>S,t+1</a:t>
            </a:r>
            <a:endParaRPr lang="en-US" dirty="0"/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91C6B465-EB57-3E1B-F3E0-5F2D4727465C}"/>
              </a:ext>
            </a:extLst>
          </p:cNvPr>
          <p:cNvSpPr/>
          <p:nvPr/>
        </p:nvSpPr>
        <p:spPr>
          <a:xfrm>
            <a:off x="9394577" y="2074811"/>
            <a:ext cx="1442545" cy="310974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</a:t>
            </a:r>
            <a:r>
              <a:rPr lang="en-US" baseline="-25000" dirty="0" err="1"/>
              <a:t>S,t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Flowchart: Data 8">
                <a:extLst>
                  <a:ext uri="{FF2B5EF4-FFF2-40B4-BE49-F238E27FC236}">
                    <a16:creationId xmlns:a16="http://schemas.microsoft.com/office/drawing/2014/main" id="{5F6AFB17-6169-AA87-5974-1FCACB3C2547}"/>
                  </a:ext>
                </a:extLst>
              </p:cNvPr>
              <p:cNvSpPr/>
              <p:nvPr/>
            </p:nvSpPr>
            <p:spPr>
              <a:xfrm>
                <a:off x="8530592" y="2515412"/>
                <a:ext cx="1135118" cy="319252"/>
              </a:xfrm>
              <a:prstGeom prst="flowChartInputOutpu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Flowchart: Data 8">
                <a:extLst>
                  <a:ext uri="{FF2B5EF4-FFF2-40B4-BE49-F238E27FC236}">
                    <a16:creationId xmlns:a16="http://schemas.microsoft.com/office/drawing/2014/main" id="{5F6AFB17-6169-AA87-5974-1FCACB3C25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592" y="2515412"/>
                <a:ext cx="1135118" cy="319252"/>
              </a:xfrm>
              <a:prstGeom prst="flowChartInputOutpu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lowchart: Data 1">
            <a:extLst>
              <a:ext uri="{FF2B5EF4-FFF2-40B4-BE49-F238E27FC236}">
                <a16:creationId xmlns:a16="http://schemas.microsoft.com/office/drawing/2014/main" id="{CE66A5EF-B7E4-5478-70F2-358E2DABD660}"/>
              </a:ext>
            </a:extLst>
          </p:cNvPr>
          <p:cNvSpPr/>
          <p:nvPr/>
        </p:nvSpPr>
        <p:spPr>
          <a:xfrm>
            <a:off x="8630469" y="1412602"/>
            <a:ext cx="1328245" cy="572026"/>
          </a:xfrm>
          <a:prstGeom prst="flowChartInputOutpu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</a:t>
            </a:r>
            <a:r>
              <a:rPr lang="en-US" baseline="-25000" dirty="0" err="1"/>
              <a:t>TL,t</a:t>
            </a: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169A265-F3B1-6B6C-E434-D4A8B1208E00}"/>
              </a:ext>
            </a:extLst>
          </p:cNvPr>
          <p:cNvCxnSpPr>
            <a:cxnSpLocks/>
          </p:cNvCxnSpPr>
          <p:nvPr/>
        </p:nvCxnSpPr>
        <p:spPr>
          <a:xfrm>
            <a:off x="2506633" y="2747609"/>
            <a:ext cx="0" cy="1433967"/>
          </a:xfrm>
          <a:prstGeom prst="straightConnector1">
            <a:avLst/>
          </a:prstGeom>
          <a:ln w="635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sm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0ADE7A1-986C-0923-91ED-B0BE503500A0}"/>
              </a:ext>
            </a:extLst>
          </p:cNvPr>
          <p:cNvCxnSpPr>
            <a:cxnSpLocks/>
          </p:cNvCxnSpPr>
          <p:nvPr/>
        </p:nvCxnSpPr>
        <p:spPr>
          <a:xfrm>
            <a:off x="10851965" y="3256607"/>
            <a:ext cx="0" cy="2894319"/>
          </a:xfrm>
          <a:prstGeom prst="straightConnector1">
            <a:avLst/>
          </a:prstGeom>
          <a:ln w="63500" cap="flat" cmpd="sng" algn="ctr">
            <a:solidFill>
              <a:srgbClr val="C00000"/>
            </a:solidFill>
            <a:prstDash val="sysDash"/>
            <a:round/>
            <a:headEnd type="none" w="sm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66FA0AF-41D2-34C3-531F-28E6C7964422}"/>
              </a:ext>
            </a:extLst>
          </p:cNvPr>
          <p:cNvCxnSpPr>
            <a:cxnSpLocks/>
          </p:cNvCxnSpPr>
          <p:nvPr/>
        </p:nvCxnSpPr>
        <p:spPr>
          <a:xfrm>
            <a:off x="845960" y="2758081"/>
            <a:ext cx="0" cy="1423495"/>
          </a:xfrm>
          <a:prstGeom prst="straightConnector1">
            <a:avLst/>
          </a:prstGeom>
          <a:ln w="635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sm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67D40FD-0814-F339-5E6A-48D7E232410C}"/>
              </a:ext>
            </a:extLst>
          </p:cNvPr>
          <p:cNvCxnSpPr>
            <a:cxnSpLocks/>
          </p:cNvCxnSpPr>
          <p:nvPr/>
        </p:nvCxnSpPr>
        <p:spPr>
          <a:xfrm>
            <a:off x="845960" y="2747609"/>
            <a:ext cx="5619114" cy="10472"/>
          </a:xfrm>
          <a:prstGeom prst="straightConnector1">
            <a:avLst/>
          </a:prstGeom>
          <a:ln w="635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sm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C2EFF9C1-EC8B-5021-AEEE-2FE51ABAD02D}"/>
              </a:ext>
            </a:extLst>
          </p:cNvPr>
          <p:cNvSpPr/>
          <p:nvPr/>
        </p:nvSpPr>
        <p:spPr>
          <a:xfrm>
            <a:off x="7156817" y="615052"/>
            <a:ext cx="1373775" cy="1015431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TL</a:t>
            </a:r>
            <a:r>
              <a:rPr lang="en-US" baseline="-25000" dirty="0"/>
              <a:t>3,t</a:t>
            </a:r>
            <a:endParaRPr lang="en-US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DDAF9FB9-F104-CB40-01C9-D4EA6F12B819}"/>
              </a:ext>
            </a:extLst>
          </p:cNvPr>
          <p:cNvSpPr/>
          <p:nvPr/>
        </p:nvSpPr>
        <p:spPr>
          <a:xfrm>
            <a:off x="7417053" y="2445220"/>
            <a:ext cx="1012114" cy="778888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TL</a:t>
            </a:r>
            <a:r>
              <a:rPr lang="en-US" baseline="-25000" dirty="0"/>
              <a:t>4,t</a:t>
            </a:r>
            <a:endParaRPr lang="en-US" dirty="0"/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00E5AF85-95EC-BE3F-A80D-3BE9C1742644}"/>
              </a:ext>
            </a:extLst>
          </p:cNvPr>
          <p:cNvSpPr/>
          <p:nvPr/>
        </p:nvSpPr>
        <p:spPr>
          <a:xfrm>
            <a:off x="2142491" y="281666"/>
            <a:ext cx="2211793" cy="1348817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TL</a:t>
            </a:r>
            <a:r>
              <a:rPr lang="en-US" baseline="-25000" dirty="0" err="1"/>
              <a:t>z,t</a:t>
            </a:r>
            <a:endParaRPr lang="en-US" dirty="0"/>
          </a:p>
        </p:txBody>
      </p:sp>
      <p:sp>
        <p:nvSpPr>
          <p:cNvPr id="35" name="Flowchart: Data 34">
            <a:extLst>
              <a:ext uri="{FF2B5EF4-FFF2-40B4-BE49-F238E27FC236}">
                <a16:creationId xmlns:a16="http://schemas.microsoft.com/office/drawing/2014/main" id="{9CE93FBF-6A78-07F9-7E14-BE6B918D01EA}"/>
              </a:ext>
            </a:extLst>
          </p:cNvPr>
          <p:cNvSpPr/>
          <p:nvPr/>
        </p:nvSpPr>
        <p:spPr>
          <a:xfrm>
            <a:off x="4275315" y="1849847"/>
            <a:ext cx="2284841" cy="572026"/>
          </a:xfrm>
          <a:prstGeom prst="flowChartInputOutp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Multinomial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D25CAB1-A85F-A232-35CC-84CD4293144E}"/>
              </a:ext>
            </a:extLst>
          </p:cNvPr>
          <p:cNvCxnSpPr>
            <a:cxnSpLocks/>
            <a:endCxn id="35" idx="2"/>
          </p:cNvCxnSpPr>
          <p:nvPr/>
        </p:nvCxnSpPr>
        <p:spPr>
          <a:xfrm>
            <a:off x="3221966" y="2122115"/>
            <a:ext cx="1281833" cy="13745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F407AC50-5213-DFF8-4007-C5F56D888FCF}"/>
              </a:ext>
            </a:extLst>
          </p:cNvPr>
          <p:cNvSpPr/>
          <p:nvPr/>
        </p:nvSpPr>
        <p:spPr>
          <a:xfrm>
            <a:off x="316091" y="4192047"/>
            <a:ext cx="1190629" cy="866388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US" baseline="-25000" dirty="0"/>
              <a:t>1,t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62EF71-1121-F2EB-778E-36ED18A1FB45}"/>
              </a:ext>
            </a:extLst>
          </p:cNvPr>
          <p:cNvCxnSpPr>
            <a:cxnSpLocks/>
          </p:cNvCxnSpPr>
          <p:nvPr/>
        </p:nvCxnSpPr>
        <p:spPr>
          <a:xfrm>
            <a:off x="3818970" y="2758081"/>
            <a:ext cx="0" cy="1423495"/>
          </a:xfrm>
          <a:prstGeom prst="straightConnector1">
            <a:avLst/>
          </a:prstGeom>
          <a:ln w="635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sm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23EDB42-03F8-ED3C-7EB4-CBB84DD997F5}"/>
              </a:ext>
            </a:extLst>
          </p:cNvPr>
          <p:cNvCxnSpPr>
            <a:cxnSpLocks/>
          </p:cNvCxnSpPr>
          <p:nvPr/>
        </p:nvCxnSpPr>
        <p:spPr>
          <a:xfrm>
            <a:off x="5059942" y="2747609"/>
            <a:ext cx="0" cy="1423495"/>
          </a:xfrm>
          <a:prstGeom prst="straightConnector1">
            <a:avLst/>
          </a:prstGeom>
          <a:ln w="635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sm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97D72103-A949-07B4-236B-657A13FBEB4A}"/>
              </a:ext>
            </a:extLst>
          </p:cNvPr>
          <p:cNvSpPr/>
          <p:nvPr/>
        </p:nvSpPr>
        <p:spPr>
          <a:xfrm>
            <a:off x="1906270" y="4192047"/>
            <a:ext cx="918570" cy="718619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US" baseline="-25000" dirty="0"/>
              <a:t>2,t</a:t>
            </a:r>
            <a:endParaRPr lang="en-US" dirty="0"/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7CB18151-69BE-6A5E-195F-B34A437C95CE}"/>
              </a:ext>
            </a:extLst>
          </p:cNvPr>
          <p:cNvSpPr/>
          <p:nvPr/>
        </p:nvSpPr>
        <p:spPr>
          <a:xfrm>
            <a:off x="3385803" y="4159216"/>
            <a:ext cx="720383" cy="553090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US" baseline="-25000" dirty="0"/>
              <a:t>3,t</a:t>
            </a:r>
            <a:endParaRPr lang="en-US" dirty="0"/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BDF77EB7-0526-AC7B-7BE1-C06C1F33ECC5}"/>
              </a:ext>
            </a:extLst>
          </p:cNvPr>
          <p:cNvSpPr/>
          <p:nvPr/>
        </p:nvSpPr>
        <p:spPr>
          <a:xfrm>
            <a:off x="4485512" y="4134581"/>
            <a:ext cx="1190629" cy="866388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US" baseline="-25000" dirty="0"/>
              <a:t>4,t</a:t>
            </a:r>
            <a:endParaRPr lang="en-US" dirty="0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99B9CAF5-7416-8F48-8EF8-2044522D9F32}"/>
              </a:ext>
            </a:extLst>
          </p:cNvPr>
          <p:cNvSpPr/>
          <p:nvPr/>
        </p:nvSpPr>
        <p:spPr>
          <a:xfrm>
            <a:off x="5963715" y="4159216"/>
            <a:ext cx="974866" cy="651472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US" baseline="-25000" dirty="0"/>
              <a:t>5,t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2484D79-B096-20D8-7862-2792A88D76F8}"/>
              </a:ext>
            </a:extLst>
          </p:cNvPr>
          <p:cNvCxnSpPr>
            <a:cxnSpLocks/>
          </p:cNvCxnSpPr>
          <p:nvPr/>
        </p:nvCxnSpPr>
        <p:spPr>
          <a:xfrm>
            <a:off x="6465074" y="2747609"/>
            <a:ext cx="0" cy="1423495"/>
          </a:xfrm>
          <a:prstGeom prst="straightConnector1">
            <a:avLst/>
          </a:prstGeom>
          <a:ln w="635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sm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F9F130A-7900-E00B-5498-2E781771BD45}"/>
              </a:ext>
            </a:extLst>
          </p:cNvPr>
          <p:cNvCxnSpPr>
            <a:cxnSpLocks/>
          </p:cNvCxnSpPr>
          <p:nvPr/>
        </p:nvCxnSpPr>
        <p:spPr>
          <a:xfrm>
            <a:off x="3248387" y="1614880"/>
            <a:ext cx="0" cy="1143201"/>
          </a:xfrm>
          <a:prstGeom prst="straightConnector1">
            <a:avLst/>
          </a:prstGeom>
          <a:ln w="635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sm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161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858C8788-8BA7-B683-CBD6-F993A1DFFE43}"/>
              </a:ext>
            </a:extLst>
          </p:cNvPr>
          <p:cNvSpPr/>
          <p:nvPr/>
        </p:nvSpPr>
        <p:spPr>
          <a:xfrm>
            <a:off x="3557246" y="1150884"/>
            <a:ext cx="872865" cy="520264"/>
          </a:xfrm>
          <a:prstGeom prst="flowChartAlternateProcess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r>
              <a:rPr lang="en-US" baseline="-25000" dirty="0"/>
              <a:t>x,t-1</a:t>
            </a:r>
            <a:endParaRPr lang="en-US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C6B1A11C-2DD9-84B7-5594-3ADC6E376CAE}"/>
              </a:ext>
            </a:extLst>
          </p:cNvPr>
          <p:cNvSpPr/>
          <p:nvPr/>
        </p:nvSpPr>
        <p:spPr>
          <a:xfrm>
            <a:off x="3402429" y="5329087"/>
            <a:ext cx="959945" cy="437494"/>
          </a:xfrm>
          <a:prstGeom prst="flowChartAlternateProcess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</a:t>
            </a:r>
            <a:r>
              <a:rPr lang="en-US" baseline="-25000" dirty="0" err="1"/>
              <a:t>x,t</a:t>
            </a:r>
            <a:endParaRPr lang="en-US" dirty="0"/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BEFEA24A-1A86-2444-5161-231D8C6478FA}"/>
              </a:ext>
            </a:extLst>
          </p:cNvPr>
          <p:cNvSpPr/>
          <p:nvPr/>
        </p:nvSpPr>
        <p:spPr>
          <a:xfrm>
            <a:off x="3272405" y="2729272"/>
            <a:ext cx="1442545" cy="310974"/>
          </a:xfrm>
          <a:prstGeom prst="flowChartInputOutpu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</a:t>
            </a:r>
            <a:r>
              <a:rPr lang="en-US" baseline="-25000" dirty="0" err="1"/>
              <a:t>x,t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Flowchart: Data 8">
                <a:extLst>
                  <a:ext uri="{FF2B5EF4-FFF2-40B4-BE49-F238E27FC236}">
                    <a16:creationId xmlns:a16="http://schemas.microsoft.com/office/drawing/2014/main" id="{59CAB491-1CEE-9482-93E8-F37076648A76}"/>
                  </a:ext>
                </a:extLst>
              </p:cNvPr>
              <p:cNvSpPr/>
              <p:nvPr/>
            </p:nvSpPr>
            <p:spPr>
              <a:xfrm>
                <a:off x="3363813" y="4025412"/>
                <a:ext cx="1135118" cy="319252"/>
              </a:xfrm>
              <a:prstGeom prst="flowChartInputOutpu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Flowchart: Data 8">
                <a:extLst>
                  <a:ext uri="{FF2B5EF4-FFF2-40B4-BE49-F238E27FC236}">
                    <a16:creationId xmlns:a16="http://schemas.microsoft.com/office/drawing/2014/main" id="{59CAB491-1CEE-9482-93E8-F37076648A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813" y="4025412"/>
                <a:ext cx="1135118" cy="319252"/>
              </a:xfrm>
              <a:prstGeom prst="flowChartInputOutpu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7112B5-2B6A-CF03-4CC5-D2E8A562D7DD}"/>
              </a:ext>
            </a:extLst>
          </p:cNvPr>
          <p:cNvCxnSpPr>
            <a:cxnSpLocks/>
          </p:cNvCxnSpPr>
          <p:nvPr/>
        </p:nvCxnSpPr>
        <p:spPr>
          <a:xfrm flipH="1">
            <a:off x="3993678" y="1697029"/>
            <a:ext cx="3" cy="985166"/>
          </a:xfrm>
          <a:prstGeom prst="straightConnector1">
            <a:avLst/>
          </a:prstGeom>
          <a:ln w="63500" cap="flat" cmpd="sng" algn="ctr">
            <a:solidFill>
              <a:srgbClr val="0070C0"/>
            </a:solidFill>
            <a:prstDash val="sysDash"/>
            <a:round/>
            <a:headEnd type="none" w="sm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452ACF-B121-FD0F-5AF3-A1CDBD341149}"/>
              </a:ext>
            </a:extLst>
          </p:cNvPr>
          <p:cNvCxnSpPr>
            <a:cxnSpLocks/>
          </p:cNvCxnSpPr>
          <p:nvPr/>
        </p:nvCxnSpPr>
        <p:spPr>
          <a:xfrm flipH="1">
            <a:off x="3942878" y="3040246"/>
            <a:ext cx="3" cy="985166"/>
          </a:xfrm>
          <a:prstGeom prst="straightConnector1">
            <a:avLst/>
          </a:prstGeom>
          <a:ln w="63500" cap="flat" cmpd="sng" algn="ctr">
            <a:solidFill>
              <a:srgbClr val="0070C0"/>
            </a:solidFill>
            <a:prstDash val="sysDash"/>
            <a:round/>
            <a:headEnd type="none" w="sm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E5D8675-C237-5364-A2AB-2BE7A89D55A7}"/>
              </a:ext>
            </a:extLst>
          </p:cNvPr>
          <p:cNvCxnSpPr>
            <a:cxnSpLocks/>
          </p:cNvCxnSpPr>
          <p:nvPr/>
        </p:nvCxnSpPr>
        <p:spPr>
          <a:xfrm flipH="1">
            <a:off x="3882402" y="4343921"/>
            <a:ext cx="3" cy="985166"/>
          </a:xfrm>
          <a:prstGeom prst="straightConnector1">
            <a:avLst/>
          </a:prstGeom>
          <a:ln w="63500" cap="flat" cmpd="sng" algn="ctr">
            <a:solidFill>
              <a:srgbClr val="0070C0"/>
            </a:solidFill>
            <a:prstDash val="sysDash"/>
            <a:round/>
            <a:headEnd type="none" w="sm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Flowchart: Data 25">
            <a:extLst>
              <a:ext uri="{FF2B5EF4-FFF2-40B4-BE49-F238E27FC236}">
                <a16:creationId xmlns:a16="http://schemas.microsoft.com/office/drawing/2014/main" id="{BF693A32-A5FD-8494-AB3E-54C6927B1E50}"/>
              </a:ext>
            </a:extLst>
          </p:cNvPr>
          <p:cNvSpPr/>
          <p:nvPr/>
        </p:nvSpPr>
        <p:spPr>
          <a:xfrm>
            <a:off x="5017520" y="3837524"/>
            <a:ext cx="2777063" cy="707013"/>
          </a:xfrm>
          <a:prstGeom prst="flowChartInputOutp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Compensatory Dynamics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F43AF63-8394-9B1B-4056-2BAF40D20759}"/>
              </a:ext>
            </a:extLst>
          </p:cNvPr>
          <p:cNvCxnSpPr>
            <a:cxnSpLocks/>
            <a:stCxn id="9" idx="5"/>
            <a:endCxn id="26" idx="2"/>
          </p:cNvCxnSpPr>
          <p:nvPr/>
        </p:nvCxnSpPr>
        <p:spPr>
          <a:xfrm>
            <a:off x="4385419" y="4185038"/>
            <a:ext cx="909807" cy="599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5DBDD43-DCE5-BA97-C2EC-6F7A4B987282}"/>
              </a:ext>
            </a:extLst>
          </p:cNvPr>
          <p:cNvCxnSpPr>
            <a:cxnSpLocks/>
            <a:stCxn id="35" idx="2"/>
            <a:endCxn id="26" idx="1"/>
          </p:cNvCxnSpPr>
          <p:nvPr/>
        </p:nvCxnSpPr>
        <p:spPr>
          <a:xfrm>
            <a:off x="6384904" y="2928021"/>
            <a:ext cx="21148" cy="909503"/>
          </a:xfrm>
          <a:prstGeom prst="straightConnector1">
            <a:avLst/>
          </a:prstGeom>
          <a:ln w="63500" cap="flat" cmpd="sng" algn="ctr">
            <a:solidFill>
              <a:schemeClr val="accent2"/>
            </a:solidFill>
            <a:prstDash val="sysDash"/>
            <a:round/>
            <a:headEnd type="none" w="sm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A562FC62-4818-CBFB-A386-E9E94C9C020F}"/>
              </a:ext>
            </a:extLst>
          </p:cNvPr>
          <p:cNvSpPr/>
          <p:nvPr/>
        </p:nvSpPr>
        <p:spPr>
          <a:xfrm>
            <a:off x="5789589" y="2061633"/>
            <a:ext cx="1190629" cy="866388"/>
          </a:xfrm>
          <a:prstGeom prst="flowChartAlternateProces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</a:t>
            </a:r>
            <a:r>
              <a:rPr lang="en-US" baseline="-25000" dirty="0" err="1"/>
              <a:t>x,t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292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8A192-F0F8-978C-27EE-B0D9A1DF0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lowchart: Alternate Process 40">
            <a:extLst>
              <a:ext uri="{FF2B5EF4-FFF2-40B4-BE49-F238E27FC236}">
                <a16:creationId xmlns:a16="http://schemas.microsoft.com/office/drawing/2014/main" id="{7EC4E9A7-E5A3-5A34-C1F9-091662C0EF88}"/>
              </a:ext>
            </a:extLst>
          </p:cNvPr>
          <p:cNvSpPr/>
          <p:nvPr/>
        </p:nvSpPr>
        <p:spPr>
          <a:xfrm>
            <a:off x="1092658" y="750541"/>
            <a:ext cx="904402" cy="672272"/>
          </a:xfrm>
          <a:prstGeom prst="flowChartAlternateProcess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r>
              <a:rPr lang="en-US" baseline="-25000" dirty="0"/>
              <a:t>1,t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Flowchart: Alternate Process 1">
                <a:extLst>
                  <a:ext uri="{FF2B5EF4-FFF2-40B4-BE49-F238E27FC236}">
                    <a16:creationId xmlns:a16="http://schemas.microsoft.com/office/drawing/2014/main" id="{CFACB94B-EF3C-FAF4-3ACE-1A736FD767F9}"/>
                  </a:ext>
                </a:extLst>
              </p:cNvPr>
              <p:cNvSpPr/>
              <p:nvPr/>
            </p:nvSpPr>
            <p:spPr>
              <a:xfrm>
                <a:off x="9891668" y="350614"/>
                <a:ext cx="2211793" cy="1348817"/>
              </a:xfrm>
              <a:prstGeom prst="flowChartAlternateProcess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Trophic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Level</m:t>
                      </m:r>
                      <m:r>
                        <m:rPr>
                          <m:nor/>
                        </m:rPr>
                        <a:rPr lang="en-US" dirty="0"/>
                        <m:t> 5 </m:t>
                      </m:r>
                      <m:r>
                        <m:rPr>
                          <m:nor/>
                        </m:rPr>
                        <a:rPr lang="en-US" dirty="0"/>
                        <m:t>Total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Biomass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@ </m:t>
                      </m:r>
                      <m:r>
                        <m:rPr>
                          <m:nor/>
                        </m:rPr>
                        <a:rPr lang="en-US" dirty="0"/>
                        <m:t>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Flowchart: Alternate Process 1">
                <a:extLst>
                  <a:ext uri="{FF2B5EF4-FFF2-40B4-BE49-F238E27FC236}">
                    <a16:creationId xmlns:a16="http://schemas.microsoft.com/office/drawing/2014/main" id="{CFACB94B-EF3C-FAF4-3ACE-1A736FD767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1668" y="350614"/>
                <a:ext cx="2211793" cy="1348817"/>
              </a:xfrm>
              <a:prstGeom prst="flowChartAlternateProcess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FEF0967E-B4F9-27B0-1212-FFE4081ECD7E}"/>
              </a:ext>
            </a:extLst>
          </p:cNvPr>
          <p:cNvSpPr/>
          <p:nvPr/>
        </p:nvSpPr>
        <p:spPr>
          <a:xfrm>
            <a:off x="8364165" y="745907"/>
            <a:ext cx="876620" cy="619656"/>
          </a:xfrm>
          <a:prstGeom prst="flowChartAlternateProcess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r>
              <a:rPr lang="en-US" baseline="-25000" dirty="0"/>
              <a:t>5,t</a:t>
            </a:r>
            <a:endParaRPr lang="en-US" dirty="0"/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7EE901F5-B645-A928-7C38-99058463B51F}"/>
              </a:ext>
            </a:extLst>
          </p:cNvPr>
          <p:cNvSpPr/>
          <p:nvPr/>
        </p:nvSpPr>
        <p:spPr>
          <a:xfrm>
            <a:off x="2729906" y="635988"/>
            <a:ext cx="1190629" cy="866388"/>
          </a:xfrm>
          <a:prstGeom prst="flowChartAlternateProcess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r>
              <a:rPr lang="en-US" baseline="-25000" dirty="0"/>
              <a:t>2,t</a:t>
            </a:r>
            <a:endParaRPr lang="en-US" dirty="0"/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F5379E59-EBB9-1F93-C5D9-A7152A57E358}"/>
              </a:ext>
            </a:extLst>
          </p:cNvPr>
          <p:cNvSpPr/>
          <p:nvPr/>
        </p:nvSpPr>
        <p:spPr>
          <a:xfrm>
            <a:off x="4576165" y="635988"/>
            <a:ext cx="1054195" cy="763236"/>
          </a:xfrm>
          <a:prstGeom prst="flowChartAlternateProcess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r>
              <a:rPr lang="en-US" baseline="-25000" dirty="0"/>
              <a:t>3,t</a:t>
            </a:r>
            <a:endParaRPr lang="en-US" dirty="0"/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4C3156EE-A9A9-6A68-7115-C49C13382CD1}"/>
              </a:ext>
            </a:extLst>
          </p:cNvPr>
          <p:cNvSpPr/>
          <p:nvPr/>
        </p:nvSpPr>
        <p:spPr>
          <a:xfrm>
            <a:off x="6381473" y="503821"/>
            <a:ext cx="1319724" cy="1025428"/>
          </a:xfrm>
          <a:prstGeom prst="flowChartAlternateProcess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r>
              <a:rPr lang="en-US" baseline="-25000" dirty="0"/>
              <a:t>4,t</a:t>
            </a:r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9300C20-40E9-E7CC-A947-B9B561ECBAE8}"/>
              </a:ext>
            </a:extLst>
          </p:cNvPr>
          <p:cNvGrpSpPr/>
          <p:nvPr/>
        </p:nvGrpSpPr>
        <p:grpSpPr>
          <a:xfrm>
            <a:off x="2307245" y="959918"/>
            <a:ext cx="272868" cy="251581"/>
            <a:chOff x="2093685" y="2278743"/>
            <a:chExt cx="631371" cy="730552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BC99B52-8F11-DF82-5099-316DB047D644}"/>
                </a:ext>
              </a:extLst>
            </p:cNvPr>
            <p:cNvCxnSpPr/>
            <p:nvPr/>
          </p:nvCxnSpPr>
          <p:spPr>
            <a:xfrm>
              <a:off x="2409371" y="2278743"/>
              <a:ext cx="0" cy="73055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7D9D2B9-B721-631B-C79B-95A8F013A5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3685" y="2610153"/>
              <a:ext cx="63137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9B57A94-6DE1-40CB-0FC2-E582E97A85EE}"/>
              </a:ext>
            </a:extLst>
          </p:cNvPr>
          <p:cNvGrpSpPr/>
          <p:nvPr/>
        </p:nvGrpSpPr>
        <p:grpSpPr>
          <a:xfrm>
            <a:off x="4043699" y="969594"/>
            <a:ext cx="272868" cy="251581"/>
            <a:chOff x="2093685" y="2278743"/>
            <a:chExt cx="631371" cy="730552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0827F73-7849-DC61-5943-8A5DCF80EB75}"/>
                </a:ext>
              </a:extLst>
            </p:cNvPr>
            <p:cNvCxnSpPr/>
            <p:nvPr/>
          </p:nvCxnSpPr>
          <p:spPr>
            <a:xfrm>
              <a:off x="2409371" y="2278743"/>
              <a:ext cx="0" cy="73055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B80651D-A801-1DC2-0419-C2F6C2065B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3685" y="2610153"/>
              <a:ext cx="63137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E80349F-DE60-31DE-8362-BB74FACD1F3B}"/>
              </a:ext>
            </a:extLst>
          </p:cNvPr>
          <p:cNvGrpSpPr/>
          <p:nvPr/>
        </p:nvGrpSpPr>
        <p:grpSpPr>
          <a:xfrm>
            <a:off x="5940544" y="943391"/>
            <a:ext cx="272868" cy="251581"/>
            <a:chOff x="2093685" y="2278743"/>
            <a:chExt cx="631371" cy="730552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75431C2-9B63-CA69-EBB1-92979D31B1C3}"/>
                </a:ext>
              </a:extLst>
            </p:cNvPr>
            <p:cNvCxnSpPr/>
            <p:nvPr/>
          </p:nvCxnSpPr>
          <p:spPr>
            <a:xfrm>
              <a:off x="2409371" y="2278743"/>
              <a:ext cx="0" cy="73055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8FE9F1F-B75C-CD2E-13F0-B46A279C3D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3685" y="2610153"/>
              <a:ext cx="63137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F25FBB7-6920-2B67-390E-85EC2B35B744}"/>
              </a:ext>
            </a:extLst>
          </p:cNvPr>
          <p:cNvGrpSpPr/>
          <p:nvPr/>
        </p:nvGrpSpPr>
        <p:grpSpPr>
          <a:xfrm>
            <a:off x="7954864" y="972446"/>
            <a:ext cx="272868" cy="251581"/>
            <a:chOff x="2093685" y="2278743"/>
            <a:chExt cx="631371" cy="730552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C23B2CC-0E37-3ABF-067B-6525891F1CDB}"/>
                </a:ext>
              </a:extLst>
            </p:cNvPr>
            <p:cNvCxnSpPr/>
            <p:nvPr/>
          </p:nvCxnSpPr>
          <p:spPr>
            <a:xfrm>
              <a:off x="2409371" y="2278743"/>
              <a:ext cx="0" cy="73055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6E72ACA-6E56-938E-9872-FBAFEA3FAA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3685" y="2610153"/>
              <a:ext cx="63137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D6FCEEE-7206-BE84-4AC0-805B64C50B82}"/>
              </a:ext>
            </a:extLst>
          </p:cNvPr>
          <p:cNvGrpSpPr/>
          <p:nvPr/>
        </p:nvGrpSpPr>
        <p:grpSpPr>
          <a:xfrm>
            <a:off x="9377218" y="1002715"/>
            <a:ext cx="285080" cy="104159"/>
            <a:chOff x="8944126" y="1082586"/>
            <a:chExt cx="285080" cy="104159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5BD835D-A4BC-6BC3-11AC-05BB1A8439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4126" y="1082586"/>
              <a:ext cx="27286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842AED1-3450-1086-1FCF-F4DC23E6AC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6338" y="1186745"/>
              <a:ext cx="27286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Flowchart: Alternate Process 63">
            <a:extLst>
              <a:ext uri="{FF2B5EF4-FFF2-40B4-BE49-F238E27FC236}">
                <a16:creationId xmlns:a16="http://schemas.microsoft.com/office/drawing/2014/main" id="{3865DBFA-C8FF-8E3E-016E-25ECC1789E1C}"/>
              </a:ext>
            </a:extLst>
          </p:cNvPr>
          <p:cNvSpPr/>
          <p:nvPr/>
        </p:nvSpPr>
        <p:spPr>
          <a:xfrm>
            <a:off x="2226268" y="2832925"/>
            <a:ext cx="2117132" cy="1007553"/>
          </a:xfrm>
          <a:prstGeom prst="flowChartAlternate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Trophic Level 4 Resource Space @ t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A200E6A-5792-3FAC-3611-86474AC53DD5}"/>
              </a:ext>
            </a:extLst>
          </p:cNvPr>
          <p:cNvGrpSpPr/>
          <p:nvPr/>
        </p:nvGrpSpPr>
        <p:grpSpPr>
          <a:xfrm>
            <a:off x="4731886" y="3361393"/>
            <a:ext cx="285080" cy="104159"/>
            <a:chOff x="8944126" y="1082586"/>
            <a:chExt cx="285080" cy="104159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7DD01DB-0AB5-B5DB-1E9C-DBE3263E9A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4126" y="1082586"/>
              <a:ext cx="27286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2BA103E-BAC6-E7A7-4FF2-2CF606CCEF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6338" y="1186745"/>
              <a:ext cx="27286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733BB7A8-B570-4F1A-8968-B8D92E7AAC0B}"/>
              </a:ext>
            </a:extLst>
          </p:cNvPr>
          <p:cNvSpPr/>
          <p:nvPr/>
        </p:nvSpPr>
        <p:spPr>
          <a:xfrm>
            <a:off x="8350666" y="3454520"/>
            <a:ext cx="2211793" cy="1348817"/>
          </a:xfrm>
          <a:prstGeom prst="flowChartAlternate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Trophic Level 5 Total Biomass </a:t>
            </a:r>
          </a:p>
          <a:p>
            <a:pPr algn="ctr"/>
            <a:r>
              <a:rPr lang="en-US" dirty="0"/>
              <a:t>@ t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795466B-F785-675A-557B-EAFF321C0E98}"/>
              </a:ext>
            </a:extLst>
          </p:cNvPr>
          <p:cNvCxnSpPr/>
          <p:nvPr/>
        </p:nvCxnSpPr>
        <p:spPr>
          <a:xfrm flipH="1">
            <a:off x="7308761" y="2946215"/>
            <a:ext cx="1766455" cy="12593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lowchart: Alternate Process 70">
            <a:extLst>
              <a:ext uri="{FF2B5EF4-FFF2-40B4-BE49-F238E27FC236}">
                <a16:creationId xmlns:a16="http://schemas.microsoft.com/office/drawing/2014/main" id="{9068F4D8-216F-100B-DA08-E43022C5251A}"/>
              </a:ext>
            </a:extLst>
          </p:cNvPr>
          <p:cNvSpPr/>
          <p:nvPr/>
        </p:nvSpPr>
        <p:spPr>
          <a:xfrm>
            <a:off x="5821518" y="2330880"/>
            <a:ext cx="2211793" cy="1348817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Trophic Level 5 Resource Pool </a:t>
            </a:r>
          </a:p>
          <a:p>
            <a:pPr algn="ctr"/>
            <a:r>
              <a:rPr lang="en-US" dirty="0"/>
              <a:t>@ t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27751FD4-1317-A06E-5202-FB9A3833E3E3}"/>
              </a:ext>
            </a:extLst>
          </p:cNvPr>
          <p:cNvSpPr/>
          <p:nvPr/>
        </p:nvSpPr>
        <p:spPr>
          <a:xfrm>
            <a:off x="2053700" y="5611973"/>
            <a:ext cx="2117132" cy="1007553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Trophic Level 4 Revised Biomass Pool @ t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2935A885-1E83-E29E-F6BE-E089424DECFD}"/>
              </a:ext>
            </a:extLst>
          </p:cNvPr>
          <p:cNvSpPr/>
          <p:nvPr/>
        </p:nvSpPr>
        <p:spPr>
          <a:xfrm>
            <a:off x="8413862" y="5384459"/>
            <a:ext cx="2211793" cy="1348817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Trophic Level 4 Resource Pool </a:t>
            </a:r>
          </a:p>
          <a:p>
            <a:pPr algn="ctr"/>
            <a:r>
              <a:rPr lang="en-US" dirty="0"/>
              <a:t>@ t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B89C0DE-5C5D-6F12-34D8-6DB991375D38}"/>
              </a:ext>
            </a:extLst>
          </p:cNvPr>
          <p:cNvGrpSpPr/>
          <p:nvPr/>
        </p:nvGrpSpPr>
        <p:grpSpPr>
          <a:xfrm>
            <a:off x="4556021" y="5978051"/>
            <a:ext cx="285080" cy="104159"/>
            <a:chOff x="8944126" y="1082586"/>
            <a:chExt cx="285080" cy="104159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D605842-1A00-9318-BAE7-DAF4E3297C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4126" y="1082586"/>
              <a:ext cx="27286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DBFBE70-2E57-AC13-C9E6-5D4E125270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6338" y="1186745"/>
              <a:ext cx="27286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BC2CFAFF-D2CB-852A-C0D3-A330522827D6}"/>
              </a:ext>
            </a:extLst>
          </p:cNvPr>
          <p:cNvSpPr/>
          <p:nvPr/>
        </p:nvSpPr>
        <p:spPr>
          <a:xfrm>
            <a:off x="4973939" y="5546973"/>
            <a:ext cx="2117132" cy="1007553"/>
          </a:xfrm>
          <a:prstGeom prst="flowChartAlternate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Trophic Level 4 Resource Space @ t</a:t>
            </a:r>
          </a:p>
        </p:txBody>
      </p:sp>
      <p:sp>
        <p:nvSpPr>
          <p:cNvPr id="78" name="Multiplication Sign 77">
            <a:extLst>
              <a:ext uri="{FF2B5EF4-FFF2-40B4-BE49-F238E27FC236}">
                <a16:creationId xmlns:a16="http://schemas.microsoft.com/office/drawing/2014/main" id="{560D9F87-3D64-2799-B6F3-04AEDD897B4C}"/>
              </a:ext>
            </a:extLst>
          </p:cNvPr>
          <p:cNvSpPr/>
          <p:nvPr/>
        </p:nvSpPr>
        <p:spPr>
          <a:xfrm>
            <a:off x="7223909" y="5640126"/>
            <a:ext cx="914400" cy="914400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247663F-9B53-9197-E3FD-7AEADB3B77A5}"/>
              </a:ext>
            </a:extLst>
          </p:cNvPr>
          <p:cNvCxnSpPr>
            <a:cxnSpLocks/>
          </p:cNvCxnSpPr>
          <p:nvPr/>
        </p:nvCxnSpPr>
        <p:spPr>
          <a:xfrm>
            <a:off x="0" y="1919288"/>
            <a:ext cx="12153900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383B8E7-F046-E667-5FD5-706841925A45}"/>
              </a:ext>
            </a:extLst>
          </p:cNvPr>
          <p:cNvCxnSpPr>
            <a:cxnSpLocks/>
          </p:cNvCxnSpPr>
          <p:nvPr/>
        </p:nvCxnSpPr>
        <p:spPr>
          <a:xfrm>
            <a:off x="111544" y="4905375"/>
            <a:ext cx="12153900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2B8BA98-3697-C417-6C5E-97F75F2B91BE}"/>
              </a:ext>
            </a:extLst>
          </p:cNvPr>
          <p:cNvSpPr txBox="1"/>
          <p:nvPr/>
        </p:nvSpPr>
        <p:spPr>
          <a:xfrm>
            <a:off x="3316727" y="181"/>
            <a:ext cx="5924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1: Sum up the biomass for all stocks in trophic level 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0543EE0-6083-6759-7DA8-1E0C689D61CB}"/>
              </a:ext>
            </a:extLst>
          </p:cNvPr>
          <p:cNvSpPr txBox="1"/>
          <p:nvPr/>
        </p:nvSpPr>
        <p:spPr>
          <a:xfrm>
            <a:off x="3284834" y="1930250"/>
            <a:ext cx="7858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2: Divide this sum by the simulated trophic level resource pool (top down)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E4678AA-ED96-33B7-8FC6-E284D709EA30}"/>
              </a:ext>
            </a:extLst>
          </p:cNvPr>
          <p:cNvSpPr txBox="1"/>
          <p:nvPr/>
        </p:nvSpPr>
        <p:spPr>
          <a:xfrm>
            <a:off x="3143508" y="4994932"/>
            <a:ext cx="7099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3: Multiple the trophic level resource pool by the Resource Space</a:t>
            </a:r>
          </a:p>
        </p:txBody>
      </p:sp>
    </p:spTree>
    <p:extLst>
      <p:ext uri="{BB962C8B-B14F-4D97-AF65-F5344CB8AC3E}">
        <p14:creationId xmlns:p14="http://schemas.microsoft.com/office/powerpoint/2010/main" val="3200649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526FE-9FFE-2C5A-6FD7-68F38DCE8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CE89FB70-7FC8-17B8-82CD-E96F1A664DD0}"/>
              </a:ext>
            </a:extLst>
          </p:cNvPr>
          <p:cNvSpPr/>
          <p:nvPr/>
        </p:nvSpPr>
        <p:spPr>
          <a:xfrm>
            <a:off x="2598170" y="255879"/>
            <a:ext cx="2085106" cy="1261070"/>
          </a:xfrm>
          <a:prstGeom prst="flowChartAlternateProces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r>
              <a:rPr lang="en-US" baseline="-25000" dirty="0"/>
              <a:t>t</a:t>
            </a:r>
            <a:endParaRPr lang="en-US" dirty="0"/>
          </a:p>
        </p:txBody>
      </p:sp>
      <p:sp>
        <p:nvSpPr>
          <p:cNvPr id="13" name="Flowchart: Data 12">
            <a:extLst>
              <a:ext uri="{FF2B5EF4-FFF2-40B4-BE49-F238E27FC236}">
                <a16:creationId xmlns:a16="http://schemas.microsoft.com/office/drawing/2014/main" id="{F51920A5-7CE2-AF9B-F607-E809D7635B0E}"/>
              </a:ext>
            </a:extLst>
          </p:cNvPr>
          <p:cNvSpPr/>
          <p:nvPr/>
        </p:nvSpPr>
        <p:spPr>
          <a:xfrm>
            <a:off x="5823147" y="600401"/>
            <a:ext cx="1581203" cy="572026"/>
          </a:xfrm>
          <a:prstGeom prst="flowChartInputOutp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ARIMA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C5B6C8D-F300-C959-4F07-590F1DF523E6}"/>
              </a:ext>
            </a:extLst>
          </p:cNvPr>
          <p:cNvCxnSpPr>
            <a:cxnSpLocks/>
            <a:stCxn id="4" idx="3"/>
            <a:endCxn id="13" idx="2"/>
          </p:cNvCxnSpPr>
          <p:nvPr/>
        </p:nvCxnSpPr>
        <p:spPr>
          <a:xfrm>
            <a:off x="4683276" y="886414"/>
            <a:ext cx="1297991" cy="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Flowchart: Data 1">
            <a:extLst>
              <a:ext uri="{FF2B5EF4-FFF2-40B4-BE49-F238E27FC236}">
                <a16:creationId xmlns:a16="http://schemas.microsoft.com/office/drawing/2014/main" id="{42C44602-EDC5-7A00-FE5E-ED5F598E976F}"/>
              </a:ext>
            </a:extLst>
          </p:cNvPr>
          <p:cNvSpPr/>
          <p:nvPr/>
        </p:nvSpPr>
        <p:spPr>
          <a:xfrm>
            <a:off x="7737343" y="1139584"/>
            <a:ext cx="1328245" cy="572026"/>
          </a:xfrm>
          <a:prstGeom prst="flowChartInputOutpu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</a:t>
            </a:r>
            <a:r>
              <a:rPr lang="en-US" baseline="-25000" dirty="0" err="1"/>
              <a:t>s,t</a:t>
            </a: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29AEF1E-B078-4E6A-0118-D3054D15DA1B}"/>
              </a:ext>
            </a:extLst>
          </p:cNvPr>
          <p:cNvCxnSpPr>
            <a:cxnSpLocks/>
          </p:cNvCxnSpPr>
          <p:nvPr/>
        </p:nvCxnSpPr>
        <p:spPr>
          <a:xfrm>
            <a:off x="3506659" y="1536055"/>
            <a:ext cx="0" cy="2068326"/>
          </a:xfrm>
          <a:prstGeom prst="straightConnector1">
            <a:avLst/>
          </a:prstGeom>
          <a:ln w="63500" cap="flat" cmpd="sng" algn="ctr">
            <a:solidFill>
              <a:srgbClr val="C00000"/>
            </a:solidFill>
            <a:prstDash val="sysDash"/>
            <a:round/>
            <a:headEnd type="none" w="sm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5F1B57C-4529-35EF-9BB3-AA7B351CFDB2}"/>
              </a:ext>
            </a:extLst>
          </p:cNvPr>
          <p:cNvCxnSpPr>
            <a:cxnSpLocks/>
          </p:cNvCxnSpPr>
          <p:nvPr/>
        </p:nvCxnSpPr>
        <p:spPr>
          <a:xfrm>
            <a:off x="1411406" y="2545411"/>
            <a:ext cx="9155" cy="1083160"/>
          </a:xfrm>
          <a:prstGeom prst="straightConnector1">
            <a:avLst/>
          </a:prstGeom>
          <a:ln w="63500" cap="flat" cmpd="sng" algn="ctr">
            <a:solidFill>
              <a:srgbClr val="C00000"/>
            </a:solidFill>
            <a:prstDash val="sysDash"/>
            <a:round/>
            <a:headEnd type="none" w="sm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8FE54F-A3F7-779F-0D3B-B0CEC493C99E}"/>
              </a:ext>
            </a:extLst>
          </p:cNvPr>
          <p:cNvCxnSpPr>
            <a:cxnSpLocks/>
          </p:cNvCxnSpPr>
          <p:nvPr/>
        </p:nvCxnSpPr>
        <p:spPr>
          <a:xfrm>
            <a:off x="5823147" y="2545411"/>
            <a:ext cx="0" cy="1058970"/>
          </a:xfrm>
          <a:prstGeom prst="straightConnector1">
            <a:avLst/>
          </a:prstGeom>
          <a:ln w="63500" cap="flat" cmpd="sng" algn="ctr">
            <a:solidFill>
              <a:srgbClr val="C00000"/>
            </a:solidFill>
            <a:prstDash val="sysDash"/>
            <a:round/>
            <a:headEnd type="none" w="sm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8E228A4-9A3A-5FEA-D792-CDC74629266B}"/>
              </a:ext>
            </a:extLst>
          </p:cNvPr>
          <p:cNvCxnSpPr>
            <a:cxnSpLocks/>
          </p:cNvCxnSpPr>
          <p:nvPr/>
        </p:nvCxnSpPr>
        <p:spPr>
          <a:xfrm>
            <a:off x="1411406" y="2486781"/>
            <a:ext cx="4452365" cy="0"/>
          </a:xfrm>
          <a:prstGeom prst="straightConnector1">
            <a:avLst/>
          </a:prstGeom>
          <a:ln w="63500" cap="flat" cmpd="sng" algn="ctr">
            <a:solidFill>
              <a:srgbClr val="C00000"/>
            </a:solidFill>
            <a:prstDash val="sysDash"/>
            <a:round/>
            <a:headEnd type="none" w="sm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F1A36257-3E30-DCB8-DB17-E8141AE21A78}"/>
              </a:ext>
            </a:extLst>
          </p:cNvPr>
          <p:cNvSpPr/>
          <p:nvPr/>
        </p:nvSpPr>
        <p:spPr>
          <a:xfrm>
            <a:off x="733673" y="3619464"/>
            <a:ext cx="1373775" cy="1015431"/>
          </a:xfrm>
          <a:prstGeom prst="flowChartAlternateProces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TL</a:t>
            </a:r>
            <a:r>
              <a:rPr lang="en-US" baseline="-25000" dirty="0"/>
              <a:t>3,t</a:t>
            </a:r>
            <a:endParaRPr lang="en-US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4072EA5F-49B0-DDC5-8861-FCCA59B84C6D}"/>
              </a:ext>
            </a:extLst>
          </p:cNvPr>
          <p:cNvSpPr/>
          <p:nvPr/>
        </p:nvSpPr>
        <p:spPr>
          <a:xfrm>
            <a:off x="3005683" y="3578954"/>
            <a:ext cx="1012114" cy="778888"/>
          </a:xfrm>
          <a:prstGeom prst="flowChartAlternateProces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TL</a:t>
            </a:r>
            <a:r>
              <a:rPr lang="en-US" baseline="-25000" dirty="0"/>
              <a:t>4,t</a:t>
            </a:r>
            <a:endParaRPr lang="en-US" dirty="0"/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28FE6F6C-AFE6-87BD-96AC-F49401B1FEAE}"/>
              </a:ext>
            </a:extLst>
          </p:cNvPr>
          <p:cNvSpPr/>
          <p:nvPr/>
        </p:nvSpPr>
        <p:spPr>
          <a:xfrm>
            <a:off x="5328452" y="3619465"/>
            <a:ext cx="907853" cy="662250"/>
          </a:xfrm>
          <a:prstGeom prst="flowChartAlternateProcess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TL</a:t>
            </a:r>
            <a:r>
              <a:rPr lang="en-US" baseline="-25000" dirty="0"/>
              <a:t>5,t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686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2119</TotalTime>
  <Words>187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Keith, David (DFO/MPO)</dc:creator>
  <cp:lastModifiedBy>Keith, David (DFO/MPO)</cp:lastModifiedBy>
  <cp:revision>24</cp:revision>
  <dcterms:created xsi:type="dcterms:W3CDTF">2026-06-01T10:19:50Z</dcterms:created>
  <dcterms:modified xsi:type="dcterms:W3CDTF">2026-06-03T11:32:29Z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65cbc89-303e-4071-afbe-fbe6ca21922b_Enabled">
    <vt:lpwstr>true</vt:lpwstr>
  </property>
  <property fmtid="{D5CDD505-2E9C-101B-9397-08002B2CF9AE}" pid="3" name="MSIP_Label_965cbc89-303e-4071-afbe-fbe6ca21922b_SetDate">
    <vt:lpwstr>2026-06-01T19:19:32Z</vt:lpwstr>
  </property>
  <property fmtid="{D5CDD505-2E9C-101B-9397-08002B2CF9AE}" pid="4" name="MSIP_Label_965cbc89-303e-4071-afbe-fbe6ca21922b_Method">
    <vt:lpwstr>Privileged</vt:lpwstr>
  </property>
  <property fmtid="{D5CDD505-2E9C-101B-9397-08002B2CF9AE}" pid="5" name="MSIP_Label_965cbc89-303e-4071-afbe-fbe6ca21922b_Name">
    <vt:lpwstr>UNCLASSIFIED - NON-CLASSIFIÉ.</vt:lpwstr>
  </property>
  <property fmtid="{D5CDD505-2E9C-101B-9397-08002B2CF9AE}" pid="6" name="MSIP_Label_965cbc89-303e-4071-afbe-fbe6ca21922b_SiteId">
    <vt:lpwstr>1594fdae-a1d9-4405-915d-011467234338</vt:lpwstr>
  </property>
  <property fmtid="{D5CDD505-2E9C-101B-9397-08002B2CF9AE}" pid="7" name="MSIP_Label_965cbc89-303e-4071-afbe-fbe6ca21922b_ActionId">
    <vt:lpwstr>3a78f0c9-2703-425b-8974-f28ef121146a</vt:lpwstr>
  </property>
  <property fmtid="{D5CDD505-2E9C-101B-9397-08002B2CF9AE}" pid="8" name="MSIP_Label_965cbc89-303e-4071-afbe-fbe6ca21922b_ContentBits">
    <vt:lpwstr>0</vt:lpwstr>
  </property>
  <property fmtid="{D5CDD505-2E9C-101B-9397-08002B2CF9AE}" pid="9" name="MSIP_Label_965cbc89-303e-4071-afbe-fbe6ca21922b_Tag">
    <vt:lpwstr>10, 0, 1, 1</vt:lpwstr>
  </property>
</Properties>
</file>